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5681B1-6F02-445E-9D50-EED3C31940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9B18E1-A41B-418F-806E-5EBA731515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55E0C9-F884-4DE5-B9EC-586FAC1CE0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4DAFB4-204F-4E76-9EC0-8080F51277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D8F283-57A7-43DB-B124-00A27CB9DA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28AC5D-34CF-47E0-81B5-0EF6A45F8F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2DEADE-E939-4C46-83D0-99FDF2B62D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EB4CC-0ACA-4127-BBAD-417F6C2D9D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0C9E36-2AAD-452B-B70B-3EFE9A37D8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8B5156-2438-486B-A7DF-5B42CC8647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C37DBD-379A-497A-9A44-6825A3411E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A1A3A2-B00E-4F4A-8824-A2B3693098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296F4B-C490-4DBF-945F-C59F6FE0CF1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1371600" y="2011680"/>
            <a:ext cx="548280" cy="9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ectangle 3"/>
          <p:cNvSpPr/>
          <p:nvPr/>
        </p:nvSpPr>
        <p:spPr>
          <a:xfrm>
            <a:off x="1371600" y="2057400"/>
            <a:ext cx="548280" cy="9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Rectangle 4"/>
          <p:cNvSpPr/>
          <p:nvPr/>
        </p:nvSpPr>
        <p:spPr>
          <a:xfrm>
            <a:off x="1371600" y="2103120"/>
            <a:ext cx="548280" cy="9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TextBox 5"/>
          <p:cNvSpPr/>
          <p:nvPr/>
        </p:nvSpPr>
        <p:spPr>
          <a:xfrm>
            <a:off x="1371600" y="2377440"/>
            <a:ext cx="91436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5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机器学习学习汇报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1371600" y="3474720"/>
            <a:ext cx="91436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2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基础原理 </a:t>
            </a:r>
            <a:r>
              <a:rPr b="0" lang="en-US" sz="22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2200" spc="-1" strike="noStrike">
                <a:solidFill>
                  <a:srgbClr val="aaaaaa"/>
                </a:solidFill>
                <a:latin typeface="微软雅黑"/>
                <a:ea typeface="微软雅黑"/>
              </a:rPr>
              <a:t>树模型与集成 </a:t>
            </a:r>
            <a:r>
              <a:rPr b="0" lang="en-US" sz="22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2200" spc="-1" strike="noStrike">
                <a:solidFill>
                  <a:srgbClr val="aaaaaa"/>
                </a:solidFill>
                <a:latin typeface="微软雅黑"/>
                <a:ea typeface="微软雅黑"/>
              </a:rPr>
              <a:t>特征工程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1371600" y="5669280"/>
            <a:ext cx="54860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400" spc="-1" strike="noStrike">
                <a:solidFill>
                  <a:srgbClr val="666666"/>
                </a:solidFill>
                <a:latin typeface="微软雅黑"/>
                <a:ea typeface="微软雅黑"/>
              </a:rPr>
              <a:t>暑期培训 </a:t>
            </a:r>
            <a:r>
              <a:rPr b="0" lang="en-US" sz="1400" spc="-1" strike="noStrike">
                <a:solidFill>
                  <a:srgbClr val="666666"/>
                </a:solidFill>
                <a:latin typeface="微软雅黑"/>
                <a:ea typeface="微软雅黑"/>
              </a:rPr>
              <a:t>· </a:t>
            </a:r>
            <a:r>
              <a:rPr b="0" lang="zh-CN" sz="1400" spc="-1" strike="noStrike">
                <a:solidFill>
                  <a:srgbClr val="666666"/>
                </a:solidFill>
                <a:latin typeface="微软雅黑"/>
                <a:ea typeface="微软雅黑"/>
              </a:rPr>
              <a:t>机器学习方向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1371600" y="6035040"/>
            <a:ext cx="5486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333333"/>
                </a:solidFill>
                <a:latin typeface="微软雅黑"/>
                <a:ea typeface="微软雅黑"/>
              </a:rPr>
              <a:t>2026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10515600" y="2286000"/>
            <a:ext cx="9000" cy="274284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目录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/ CONTENTS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5"/>
          <p:cNvSpPr/>
          <p:nvPr/>
        </p:nvSpPr>
        <p:spPr>
          <a:xfrm>
            <a:off x="914400" y="1828800"/>
            <a:ext cx="10969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200" spc="-1" strike="noStrike">
                <a:solidFill>
                  <a:srgbClr val="00b4d8"/>
                </a:solidFill>
                <a:latin typeface="微软雅黑"/>
                <a:ea typeface="微软雅黑"/>
              </a:rPr>
              <a:t>01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2286000" y="1874520"/>
            <a:ext cx="73148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基础与原理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2286000" y="2331720"/>
            <a:ext cx="8229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监督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/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无监督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线性模型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损失函数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KNN/K-Means · SVM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" name="Rectangle 8"/>
          <p:cNvSpPr/>
          <p:nvPr/>
        </p:nvSpPr>
        <p:spPr>
          <a:xfrm>
            <a:off x="914400" y="3017520"/>
            <a:ext cx="10058040" cy="612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9"/>
          <p:cNvSpPr/>
          <p:nvPr/>
        </p:nvSpPr>
        <p:spPr>
          <a:xfrm>
            <a:off x="914400" y="3291840"/>
            <a:ext cx="10969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200" spc="-1" strike="noStrike">
                <a:solidFill>
                  <a:srgbClr val="00b4d8"/>
                </a:solidFill>
                <a:latin typeface="微软雅黑"/>
                <a:ea typeface="微软雅黑"/>
              </a:rPr>
              <a:t>02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2286000" y="3337560"/>
            <a:ext cx="73148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树模型与集成学习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0" name="TextBox 11"/>
          <p:cNvSpPr/>
          <p:nvPr/>
        </p:nvSpPr>
        <p:spPr>
          <a:xfrm>
            <a:off x="2286000" y="3794760"/>
            <a:ext cx="8229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决策树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随机森林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GBDT/XGBoost · LightGBM · CatBoost · Stacking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" name="Rectangle 12"/>
          <p:cNvSpPr/>
          <p:nvPr/>
        </p:nvSpPr>
        <p:spPr>
          <a:xfrm>
            <a:off x="914400" y="4480560"/>
            <a:ext cx="10058040" cy="612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TextBox 13"/>
          <p:cNvSpPr/>
          <p:nvPr/>
        </p:nvSpPr>
        <p:spPr>
          <a:xfrm>
            <a:off x="914400" y="4754880"/>
            <a:ext cx="10969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200" spc="-1" strike="noStrike">
                <a:solidFill>
                  <a:srgbClr val="00b4d8"/>
                </a:solidFill>
                <a:latin typeface="微软雅黑"/>
                <a:ea typeface="微软雅黑"/>
              </a:rPr>
              <a:t>03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63" name="TextBox 14"/>
          <p:cNvSpPr/>
          <p:nvPr/>
        </p:nvSpPr>
        <p:spPr>
          <a:xfrm>
            <a:off x="2286000" y="4800600"/>
            <a:ext cx="73148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特征工程与数据处理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4" name="TextBox 15"/>
          <p:cNvSpPr/>
          <p:nvPr/>
        </p:nvSpPr>
        <p:spPr>
          <a:xfrm>
            <a:off x="2286000" y="5257800"/>
            <a:ext cx="8229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EDA 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编码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变换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构造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选择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不平衡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Pipeline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阶段一：基础与原理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77240" y="868680"/>
            <a:ext cx="10058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机器学习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神经网络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深度学习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Rectangle 5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TextBox 6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三者关系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548640" y="1828800"/>
            <a:ext cx="50288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600" spc="-1" strike="noStrike">
                <a:solidFill>
                  <a:srgbClr val="ff6b6b"/>
                </a:solidFill>
                <a:latin typeface="微软雅黑"/>
                <a:ea typeface="微软雅黑"/>
              </a:rPr>
              <a:t>机器学习 ⊃ 神经网络 ⊃ 深度学习</a:t>
            </a:r>
            <a:endParaRPr b="0" lang="en-US" sz="1600" spc="-1" strike="noStrike">
              <a:latin typeface="Arial"/>
            </a:endParaRPr>
          </a:p>
        </p:txBody>
      </p:sp>
      <p:graphicFrame>
        <p:nvGraphicFramePr>
          <p:cNvPr id="72" name="Table 8"/>
          <p:cNvGraphicFramePr/>
          <p:nvPr/>
        </p:nvGraphicFramePr>
        <p:xfrm>
          <a:off x="548640" y="2286000"/>
          <a:ext cx="5028840" cy="201132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256032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范围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核心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机器学习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最外层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从数据中学习规律的算法总称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神经网络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中间层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模拟神经元连接的机器学习方法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深度学习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最内层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层数多的神经网络（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&gt;2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隐藏层）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73" name="TextBox 9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监督 </a:t>
            </a: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vs </a:t>
            </a: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无监督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4" name="Table 10"/>
          <p:cNvGraphicFramePr/>
          <p:nvPr/>
        </p:nvGraphicFramePr>
        <p:xfrm>
          <a:off x="6217920" y="1828800"/>
          <a:ext cx="5394600" cy="2468520"/>
        </p:xfrm>
        <a:graphic>
          <a:graphicData uri="http://schemas.openxmlformats.org/drawingml/2006/table">
            <a:tbl>
              <a:tblPr/>
              <a:tblGrid>
                <a:gridCol w="914400"/>
                <a:gridCol w="2103120"/>
                <a:gridCol w="2377440"/>
              </a:tblGrid>
              <a:tr h="49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监督学习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无监督学习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9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数据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有标签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(X+y)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无标签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只有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X)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9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X→y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映射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发现内在结构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9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分类、回归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聚类、降维、异常检测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94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代表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LR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SVM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RF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K-Means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PCA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5" name="TextBox 11"/>
          <p:cNvSpPr/>
          <p:nvPr/>
        </p:nvSpPr>
        <p:spPr>
          <a:xfrm>
            <a:off x="548640" y="448056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数据集划分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6" name="Table 12"/>
          <p:cNvGraphicFramePr/>
          <p:nvPr/>
        </p:nvGraphicFramePr>
        <p:xfrm>
          <a:off x="548640" y="4846320"/>
          <a:ext cx="11063880" cy="164556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1828800"/>
                <a:gridCol w="4937760"/>
              </a:tblGrid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集合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训练集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学习参数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(w,b)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70~80%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平时作业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验证集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调超参数、选模型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从训练集划出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模拟考试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测试集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最终评估泛化能力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20~30%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期末考试（仅用一次）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核心概念：参数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过拟合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正则化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5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参数 </a:t>
            </a: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vs </a:t>
            </a: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超参数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2" name="Table 6"/>
          <p:cNvGraphicFramePr/>
          <p:nvPr/>
        </p:nvGraphicFramePr>
        <p:xfrm>
          <a:off x="548640" y="1828800"/>
          <a:ext cx="5303160" cy="164556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097280"/>
                <a:gridCol w="146304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谁决定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例子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模型从数据中学到的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模型自己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、神经网络权重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超参数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训练前人为设定的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学习率、正则化系数、树深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3" name="TextBox 7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拟合状态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4" name="Table 8"/>
          <p:cNvGraphicFramePr/>
          <p:nvPr/>
        </p:nvGraphicFramePr>
        <p:xfrm>
          <a:off x="6309360" y="1828800"/>
          <a:ext cx="5303160" cy="182844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1371600"/>
                <a:gridCol w="14630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训练集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测试集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原因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解决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欠拟合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差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差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模型太简单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增复杂度、加特征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过拟合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极好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差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模型太复杂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记噪声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正则化、加数据、降复杂度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泛化好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平衡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最终目标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85" name="TextBox 9"/>
          <p:cNvSpPr/>
          <p:nvPr/>
        </p:nvSpPr>
        <p:spPr>
          <a:xfrm>
            <a:off x="548640" y="384048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正则化 </a:t>
            </a: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L1 / L2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6" name="Table 10"/>
          <p:cNvGraphicFramePr/>
          <p:nvPr/>
        </p:nvGraphicFramePr>
        <p:xfrm>
          <a:off x="548640" y="4206240"/>
          <a:ext cx="11063880" cy="137124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3200400"/>
                <a:gridCol w="42062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惩罚项 </a:t>
                      </a: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R(w)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效果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特点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L1 (Lasso)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Σ|wⱼ|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产生稀疏解（很多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w=0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自动特征选择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L2 (Ridge)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Σwⱼ²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整体压小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（不为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平滑稳定，通用首选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7" name="TextBox 11"/>
          <p:cNvSpPr/>
          <p:nvPr/>
        </p:nvSpPr>
        <p:spPr>
          <a:xfrm>
            <a:off x="548640" y="5760720"/>
            <a:ext cx="10972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L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总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= L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数据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+ λ·R(w)   |   λ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越大惩罚越强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损失函数：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MSE ·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交叉熵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1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TextBox 5"/>
          <p:cNvSpPr/>
          <p:nvPr/>
        </p:nvSpPr>
        <p:spPr>
          <a:xfrm>
            <a:off x="548640" y="1463040"/>
            <a:ext cx="10972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核心目标：让损失函数最小。损失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=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预测值与真实值的差距。</a:t>
            </a:r>
            <a:endParaRPr b="0" lang="en-US" sz="1300" spc="-1" strike="noStrike">
              <a:latin typeface="Arial"/>
            </a:endParaRPr>
          </a:p>
        </p:txBody>
      </p:sp>
      <p:graphicFrame>
        <p:nvGraphicFramePr>
          <p:cNvPr id="93" name="Table 6"/>
          <p:cNvGraphicFramePr/>
          <p:nvPr/>
        </p:nvGraphicFramePr>
        <p:xfrm>
          <a:off x="548640" y="2011680"/>
          <a:ext cx="11063880" cy="329148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585216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均方误差 </a:t>
                      </a: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MSE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交叉熵 </a:t>
                      </a: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Cross-Entropy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适用任务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回归（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连续）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离散）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公式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 = (1/n)Σ(ŷᵢ - yᵢ)²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 = -(1/n)Σ[yᵢlogŷᵢ + (1-yᵢ)log(1-ŷᵢ)]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直觉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误差平方平均，大误差重罚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预测错且自信 → 惩罚极大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为什么用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处处可导，正态分布下最优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Sigmoid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组合为凸函数，全局最优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搭配模型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线性回归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逻辑回归、神经网络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94" name="TextBox 7"/>
          <p:cNvSpPr/>
          <p:nvPr/>
        </p:nvSpPr>
        <p:spPr>
          <a:xfrm>
            <a:off x="548640" y="5486400"/>
            <a:ext cx="109724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分类不用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MSE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：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Sigmoid+MSE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非凸，多局部最小值；交叉熵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+Sigmoid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是凸函数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MSE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用平方：对大误差惩罚更大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+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处处可导便于梯度计算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线性模型：线性回归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逻辑回归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99" name="Table 5"/>
          <p:cNvGraphicFramePr/>
          <p:nvPr/>
        </p:nvGraphicFramePr>
        <p:xfrm>
          <a:off x="548640" y="1554480"/>
          <a:ext cx="11063880" cy="4114440"/>
        </p:xfrm>
        <a:graphic>
          <a:graphicData uri="http://schemas.openxmlformats.org/drawingml/2006/table">
            <a:tbl>
              <a:tblPr/>
              <a:tblGrid>
                <a:gridCol w="1371600"/>
                <a:gridCol w="4389120"/>
                <a:gridCol w="5303520"/>
              </a:tblGrid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线性回归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逻辑回归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回归（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连续）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离散）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ŷ = wᵀx + b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ŷ = σ(wᵀx + b) = 1/(1+e^(-z))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输出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任意实数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(0, 1)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概率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损失函数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MSE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交叉熵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梯度 ∂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L/∂w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(2/n)Σ(ŷᵢ-yᵢ)·xᵢ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(1/n)Σ(ŷᵢ-yᵢ)·xᵢ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1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决策方式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直接输出值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ŷ &gt; 0.5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判为正类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15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正则化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L1 / L2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均可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L1 / L2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均可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6"/>
          <p:cNvSpPr/>
          <p:nvPr/>
        </p:nvSpPr>
        <p:spPr>
          <a:xfrm>
            <a:off x="548640" y="576072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梯度下降核心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1645920" y="5760720"/>
            <a:ext cx="9143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w ← w - η·∂L/∂w   |  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学习率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η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太大震荡发散，太小收敛慢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ectangle 7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1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距离与聚类：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KNN · K-Means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5" name="Rectangle 10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2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距离度量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07" name="Table 1"/>
          <p:cNvGraphicFramePr/>
          <p:nvPr/>
        </p:nvGraphicFramePr>
        <p:xfrm>
          <a:off x="548640" y="1828800"/>
          <a:ext cx="5028840" cy="146268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097280"/>
                <a:gridCol w="118872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名称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公式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直觉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特点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欧氏距离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√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Σ(aᵢ-bᵢ)²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两点直线距离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最常用，对大差异敏感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87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曼哈顿距离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Σ|aᵢ-bᵢ|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城市格子路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对异常值不敏感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08" name="TextBox 12"/>
          <p:cNvSpPr/>
          <p:nvPr/>
        </p:nvSpPr>
        <p:spPr>
          <a:xfrm>
            <a:off x="548640" y="3383280"/>
            <a:ext cx="50288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铁律：距离类算法必须先标准化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" name="TextBox 16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KNN vs K-Means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10" name="Table 2"/>
          <p:cNvGraphicFramePr/>
          <p:nvPr/>
        </p:nvGraphicFramePr>
        <p:xfrm>
          <a:off x="6217920" y="1828800"/>
          <a:ext cx="5394600" cy="347436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468880"/>
              </a:tblGrid>
              <a:tr h="4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KNN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K-Means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学习类型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监督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无监督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的含义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最近几个邻居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分成几个簇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需要标签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需要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不需要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训练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不训练（存数据）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迭代找中心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预测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邻居投票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分配到最近簇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9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选择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交叉验证选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手肘法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轮廓系数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11" name="TextBox 17"/>
          <p:cNvSpPr/>
          <p:nvPr/>
        </p:nvSpPr>
        <p:spPr>
          <a:xfrm>
            <a:off x="548640" y="5303520"/>
            <a:ext cx="10972440" cy="7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KNN K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太小→过拟合（对噪声敏感），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K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太大→欠拟合（永远预测多数类）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K-Means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对初始化敏感（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K-Means++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缓解），假设球形簇，非球形用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DBSCAN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共同点：都依赖距离度量，都需要标准化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支持向量机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SVM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5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TextBox 5"/>
          <p:cNvSpPr/>
          <p:nvPr/>
        </p:nvSpPr>
        <p:spPr>
          <a:xfrm>
            <a:off x="548640" y="1463040"/>
            <a:ext cx="10972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核心：找间隔最大的决策边界。只有支持向量（离边界最近的点）决定边界。</a:t>
            </a:r>
            <a:endParaRPr b="0" lang="en-US" sz="1300" spc="-1" strike="noStrike">
              <a:latin typeface="Arial"/>
            </a:endParaRPr>
          </a:p>
        </p:txBody>
      </p:sp>
      <p:graphicFrame>
        <p:nvGraphicFramePr>
          <p:cNvPr id="117" name="Table 6"/>
          <p:cNvGraphicFramePr/>
          <p:nvPr/>
        </p:nvGraphicFramePr>
        <p:xfrm>
          <a:off x="548640" y="2011680"/>
          <a:ext cx="11063880" cy="3291480"/>
        </p:xfrm>
        <a:graphic>
          <a:graphicData uri="http://schemas.openxmlformats.org/drawingml/2006/table">
            <a:tbl>
              <a:tblPr/>
              <a:tblGrid>
                <a:gridCol w="1371600"/>
                <a:gridCol w="5943600"/>
                <a:gridCol w="374868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概念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支持向量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离决策边界最近的点，踩在间隔边界上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撑起帐篷的柱子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最大化间隔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最小化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||w||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，间隔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 2/||w||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路越宽越好走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软间隔 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大→严格窄间隔易过拟合；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小→宽松欠拟合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校规严松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核技巧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映射到高维空间，无需计算高维坐标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升维找切割面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RBF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核 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γ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γ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大→边界曲折过拟合；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γ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小→边界平滑欠拟合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影响范围大小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18" name="TextBox 7"/>
          <p:cNvSpPr/>
          <p:nvPr/>
        </p:nvSpPr>
        <p:spPr>
          <a:xfrm>
            <a:off x="548640" y="548640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核函数对比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19" name="Table 8"/>
          <p:cNvGraphicFramePr/>
          <p:nvPr/>
        </p:nvGraphicFramePr>
        <p:xfrm>
          <a:off x="548640" y="5852160"/>
          <a:ext cx="4571640" cy="8226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核函数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适用场景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24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线性核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数据本身线性可分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24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RBF</a:t>
                      </a: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核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最常用，映射到无穷维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4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多项式核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需要特征交互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20" name="TextBox 9"/>
          <p:cNvSpPr/>
          <p:nvPr/>
        </p:nvSpPr>
        <p:spPr>
          <a:xfrm>
            <a:off x="5943600" y="61794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vs 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逻辑回归：</a:t>
            </a: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SVM 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只看边界关键点（局部）；</a:t>
            </a: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LR 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所有点都影响（全局）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阶段二：树模型与集成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777240" y="868680"/>
            <a:ext cx="10058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决策树 </a:t>
            </a: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随机森林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5" name="Rectangle 5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TextBox 6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决策树 </a:t>
            </a: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DT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27" name="Table 7"/>
          <p:cNvGraphicFramePr/>
          <p:nvPr/>
        </p:nvGraphicFramePr>
        <p:xfrm>
          <a:off x="548640" y="1828800"/>
          <a:ext cx="5303160" cy="274284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核心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每个节点找特征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阈值，使分完后最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纯净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不纯度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基尼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G=1-Σpₖ²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（默认，快）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信息熵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H=-Σpₖlogpₖ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剪枝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预剪枝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(max_depth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) +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后剪枝 → 防过拟合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优点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可解释性极强、不需标准化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缺点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易过拟合、不稳定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28" name="TextBox 8"/>
          <p:cNvSpPr/>
          <p:nvPr/>
        </p:nvSpPr>
        <p:spPr>
          <a:xfrm>
            <a:off x="6292800" y="141732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随机森林 </a:t>
            </a: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RF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29" name="Table 9"/>
          <p:cNvGraphicFramePr/>
          <p:nvPr/>
        </p:nvGraphicFramePr>
        <p:xfrm>
          <a:off x="6309360" y="1828800"/>
          <a:ext cx="5303160" cy="274284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本质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Bagging +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特征随机 →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棵树投票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降方差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Var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森林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 ρ·σ² + (1-ρ)/N·σ²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特征随机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每次分裂随机选√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个特征 → 降树间相关性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ρ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优点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不易过拟合、不需标准化、自带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OOB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评估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缺点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黑盒不可解释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10"/>
          <p:cNvSpPr/>
          <p:nvPr/>
        </p:nvSpPr>
        <p:spPr>
          <a:xfrm>
            <a:off x="548640" y="475488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决策树 </a:t>
            </a: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vs </a:t>
            </a: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随机森林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31" name="Table 11"/>
          <p:cNvGraphicFramePr/>
          <p:nvPr/>
        </p:nvGraphicFramePr>
        <p:xfrm>
          <a:off x="548640" y="5120640"/>
          <a:ext cx="11063880" cy="146268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649224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决策树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随机森林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24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结构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一棵树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棵树投票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24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方差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高（过拟合）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低（多树平均降方差）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4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偏差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低（树可长很深）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低（和单棵树差不多）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24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可解释性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强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弱（黑盒）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4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稳定性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差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集成两大流派：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Bagging · Boosting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5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136" name="Table 5"/>
          <p:cNvGraphicFramePr/>
          <p:nvPr/>
        </p:nvGraphicFramePr>
        <p:xfrm>
          <a:off x="548640" y="1645920"/>
          <a:ext cx="11063880" cy="384012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5577840"/>
              </a:tblGrid>
              <a:tr h="479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Bagging</a:t>
                      </a: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（随机森林）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Boosting</a:t>
                      </a: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GBDT/XGBoost</a:t>
                      </a: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训练方式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并行（树独立）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串行（后棵纠正前棵）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基模型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深树（低偏差高方差）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浅树（高偏差低方差）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降方差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降偏差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数据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每棵树用不同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bootstrap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抽样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同一批数据，目标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残差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)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不同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最终输出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投票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加权累加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过拟合风险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较高（需早停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正则化）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80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异常值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不敏感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敏感（反复放大）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6"/>
          <p:cNvSpPr/>
          <p:nvPr/>
        </p:nvSpPr>
        <p:spPr>
          <a:xfrm>
            <a:off x="548640" y="5669280"/>
            <a:ext cx="109724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Bagging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精髓：深树保低偏差，多树平均降方差 → 不改善偏差，只降低方差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Boosting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精髓：串行拟合残差，每棵树走一步梯度下降 → 逐步降偏差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3"/>
          <p:cNvSpPr/>
          <p:nvPr/>
        </p:nvSpPr>
        <p:spPr>
          <a:xfrm>
            <a:off x="777240" y="411480"/>
            <a:ext cx="1005804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Boosting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三巨头：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GBDT · XGBoost · LightGBM · CatBoost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TextBox 5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GBDT </a:t>
            </a: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核心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43" name="Table 6"/>
          <p:cNvGraphicFramePr/>
          <p:nvPr/>
        </p:nvGraphicFramePr>
        <p:xfrm>
          <a:off x="548640" y="1828800"/>
          <a:ext cx="5028840" cy="2194200"/>
        </p:xfrm>
        <a:graphic>
          <a:graphicData uri="http://schemas.openxmlformats.org/drawingml/2006/table">
            <a:tbl>
              <a:tblPr/>
              <a:tblGrid>
                <a:gridCol w="1097280"/>
                <a:gridCol w="393192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拟合残差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 y - ŷ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MSE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损失的负梯度）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输出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ŷ = ŷ₀ + η·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树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 + η·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树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 + ... + η·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树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学习率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η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小→需更多树，但泛化更好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本质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梯度下降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决策树，每棵树走一步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7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XGBoost vs GBDT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45" name="Table 8"/>
          <p:cNvGraphicFramePr/>
          <p:nvPr/>
        </p:nvGraphicFramePr>
        <p:xfrm>
          <a:off x="6309360" y="1828800"/>
          <a:ext cx="5303160" cy="21942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256032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改进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GBDT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XGBoost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正则化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损失函数加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L1/L2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导数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一阶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一阶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二阶（收敛更快）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缺失值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需手动处理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自动学习走左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右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并行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串行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特征预排序并行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9"/>
          <p:cNvSpPr/>
          <p:nvPr/>
        </p:nvSpPr>
        <p:spPr>
          <a:xfrm>
            <a:off x="548640" y="42062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三大框架对比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47" name="Table 10"/>
          <p:cNvGraphicFramePr/>
          <p:nvPr/>
        </p:nvGraphicFramePr>
        <p:xfrm>
          <a:off x="548640" y="4572000"/>
          <a:ext cx="11063880" cy="201132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743200"/>
                <a:gridCol w="4389120"/>
              </a:tblGrid>
              <a:tr h="335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XGBoost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LightGBM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CatBoost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核心优势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精度高、稳定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速度快、省内存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类别特征自动处理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类别特征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需手动编码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支持但需指定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全自动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生长策略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Level-wise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Leaf-wise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Level-wise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（对称树）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速度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最快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慢（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Ordered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开销）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3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调参难度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低（默认就好）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LightGBM · CatBoost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核心创新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TextBox 5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LightGBM </a:t>
            </a: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两大创新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53" name="Table 6"/>
          <p:cNvGraphicFramePr/>
          <p:nvPr/>
        </p:nvGraphicFramePr>
        <p:xfrm>
          <a:off x="548640" y="1828800"/>
          <a:ext cx="11063880" cy="1462680"/>
        </p:xfrm>
        <a:graphic>
          <a:graphicData uri="http://schemas.openxmlformats.org/drawingml/2006/table">
            <a:tbl>
              <a:tblPr/>
              <a:tblGrid>
                <a:gridCol w="1645920"/>
                <a:gridCol w="5029200"/>
                <a:gridCol w="438912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创新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效果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直方图算法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连续特征离散化到桶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(bin)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，分裂只在桶边界尝试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速度快几倍、内存省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倍，精度损失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&lt;1%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87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Leaf-wise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生长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每次只分裂收益最大的叶子（非逐层）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效率高，但可能过深→需限制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num_leaves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54" name="TextBox 7"/>
          <p:cNvSpPr/>
          <p:nvPr/>
        </p:nvSpPr>
        <p:spPr>
          <a:xfrm>
            <a:off x="548640" y="347472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CatBoost </a:t>
            </a: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核心：</a:t>
            </a: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Ordered Target Encoding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55" name="Table 8"/>
          <p:cNvGraphicFramePr/>
          <p:nvPr/>
        </p:nvGraphicFramePr>
        <p:xfrm>
          <a:off x="548640" y="3840480"/>
          <a:ext cx="11063880" cy="201132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编码方法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One-Hot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类别多时维度爆炸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Label Encoding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引入虚假大小关系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Target Encoding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数据泄漏：用了全量标签信息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Ordered Target Encoding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每个样本只用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之前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的同类样本算编码 → 无泄漏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56" name="TextBox 9"/>
          <p:cNvSpPr/>
          <p:nvPr/>
        </p:nvSpPr>
        <p:spPr>
          <a:xfrm>
            <a:off x="548640" y="6035040"/>
            <a:ext cx="10972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6b6b"/>
                </a:solidFill>
                <a:latin typeface="微软雅黑"/>
                <a:ea typeface="微软雅黑"/>
              </a:rPr>
              <a:t>选型：类别特征多用</a:t>
            </a:r>
            <a:r>
              <a:rPr b="1" lang="en-US" sz="1200" spc="-1" strike="noStrike">
                <a:solidFill>
                  <a:srgbClr val="ff6b6b"/>
                </a:solidFill>
                <a:latin typeface="微软雅黑"/>
                <a:ea typeface="微软雅黑"/>
              </a:rPr>
              <a:t>CatBoost</a:t>
            </a:r>
            <a:r>
              <a:rPr b="1" lang="zh-CN" sz="1200" spc="-1" strike="noStrike">
                <a:solidFill>
                  <a:srgbClr val="ff6b6b"/>
                </a:solidFill>
                <a:latin typeface="微软雅黑"/>
                <a:ea typeface="微软雅黑"/>
              </a:rPr>
              <a:t>，大数据用</a:t>
            </a:r>
            <a:r>
              <a:rPr b="1" lang="en-US" sz="1200" spc="-1" strike="noStrike">
                <a:solidFill>
                  <a:srgbClr val="ff6b6b"/>
                </a:solidFill>
                <a:latin typeface="微软雅黑"/>
                <a:ea typeface="微软雅黑"/>
              </a:rPr>
              <a:t>LightGBM</a:t>
            </a:r>
            <a:r>
              <a:rPr b="1" lang="zh-CN" sz="1200" spc="-1" strike="noStrike">
                <a:solidFill>
                  <a:srgbClr val="ff6b6b"/>
                </a:solidFill>
                <a:latin typeface="微软雅黑"/>
                <a:ea typeface="微软雅黑"/>
              </a:rPr>
              <a:t>，小数据</a:t>
            </a:r>
            <a:r>
              <a:rPr b="1" lang="en-US" sz="1200" spc="-1" strike="noStrike">
                <a:solidFill>
                  <a:srgbClr val="ff6b6b"/>
                </a:solidFill>
                <a:latin typeface="微软雅黑"/>
                <a:ea typeface="微软雅黑"/>
              </a:rPr>
              <a:t>/</a:t>
            </a:r>
            <a:r>
              <a:rPr b="1" lang="zh-CN" sz="1200" spc="-1" strike="noStrike">
                <a:solidFill>
                  <a:srgbClr val="ff6b6b"/>
                </a:solidFill>
                <a:latin typeface="微软雅黑"/>
                <a:ea typeface="微软雅黑"/>
              </a:rPr>
              <a:t>求稳用</a:t>
            </a:r>
            <a:r>
              <a:rPr b="1" lang="en-US" sz="1200" spc="-1" strike="noStrike">
                <a:solidFill>
                  <a:srgbClr val="ff6b6b"/>
                </a:solidFill>
                <a:latin typeface="微软雅黑"/>
                <a:ea typeface="微软雅黑"/>
              </a:rPr>
              <a:t>XGBoost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模型融合：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Stacking · Blending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0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TextBox 5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融合三层次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62" name="Table 6"/>
          <p:cNvGraphicFramePr/>
          <p:nvPr/>
        </p:nvGraphicFramePr>
        <p:xfrm>
          <a:off x="548640" y="1828800"/>
          <a:ext cx="11063880" cy="164556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1828800"/>
                <a:gridCol w="3291840"/>
              </a:tblGrid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层次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复杂度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效果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简单融合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投票（分类）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平均（回归）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最低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有提升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加权融合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按模型表现分配权重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稍好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Stacking/Blending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元模型从数据中学习如何组合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最好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63" name="TextBox 7"/>
          <p:cNvSpPr/>
          <p:nvPr/>
        </p:nvSpPr>
        <p:spPr>
          <a:xfrm>
            <a:off x="548640" y="365760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Stacking vs Blending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64" name="Table 8"/>
          <p:cNvGraphicFramePr/>
          <p:nvPr/>
        </p:nvGraphicFramePr>
        <p:xfrm>
          <a:off x="548640" y="4023360"/>
          <a:ext cx="11063880" cy="237708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5120640"/>
              </a:tblGrid>
              <a:tr h="396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Stacking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Blending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396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元特征生成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折交叉验证（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out-of-fold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holdout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集（划分一份出来）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396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元模型训练数据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全部样本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仅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holdout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部分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96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数据利用率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396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计算量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大（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倍训练）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小（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倍）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97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适用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数据多、竞赛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数据少、快速原型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65" name="TextBox 9"/>
          <p:cNvSpPr/>
          <p:nvPr/>
        </p:nvSpPr>
        <p:spPr>
          <a:xfrm>
            <a:off x="548640" y="649224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关键：基础模型要有多样性（错误模式不同）；元模型越简单越好（逻辑回归即可）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阶段三：特征工程与数据处理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777240" y="868680"/>
            <a:ext cx="10058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EDA · </a:t>
            </a: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特征编码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0" name="Rectangle 5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6"/>
          <p:cNvSpPr/>
          <p:nvPr/>
        </p:nvSpPr>
        <p:spPr>
          <a:xfrm>
            <a:off x="548640" y="1463040"/>
            <a:ext cx="10972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aaaaaa"/>
                </a:solidFill>
                <a:latin typeface="微软雅黑"/>
                <a:ea typeface="微软雅黑"/>
              </a:rPr>
              <a:t>总纲：模型是锅，特征是米。特征工程决定模型上限，模型只是逼近这个上限。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2" name="TextBox 7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EDA </a:t>
            </a: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五步流程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73" name="Table 8"/>
          <p:cNvGraphicFramePr/>
          <p:nvPr/>
        </p:nvGraphicFramePr>
        <p:xfrm>
          <a:off x="548640" y="1920240"/>
          <a:ext cx="11063880" cy="2559960"/>
        </p:xfrm>
        <a:graphic>
          <a:graphicData uri="http://schemas.openxmlformats.org/drawingml/2006/table">
            <a:tbl>
              <a:tblPr/>
              <a:tblGrid>
                <a:gridCol w="1371600"/>
                <a:gridCol w="5943600"/>
                <a:gridCol w="3748680"/>
              </a:tblGrid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步骤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①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全局概览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shape/dtypes/head/describe →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数据规模、类型、基本统计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称体重、量身高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②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目标变量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分布、偏度 → 决定是否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log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变换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先确认病人哪里不舒服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③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单变量分析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数值型看分布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异常；类别型看占比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失衡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逐间房看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④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双变量分析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相关性热力图、散点图 → 找重点特征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共线性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画人物关系图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26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⑤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缺失与异常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缺失类型判断、异常值检测（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3σ/IQR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专找数据里的坑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74" name="TextBox 9"/>
          <p:cNvSpPr/>
          <p:nvPr/>
        </p:nvSpPr>
        <p:spPr>
          <a:xfrm>
            <a:off x="548640" y="46634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特征编码速查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75" name="Table 10"/>
          <p:cNvGraphicFramePr/>
          <p:nvPr/>
        </p:nvGraphicFramePr>
        <p:xfrm>
          <a:off x="548640" y="5029200"/>
          <a:ext cx="11063880" cy="16455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3291840"/>
              </a:tblGrid>
              <a:tr h="32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编码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适用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坑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One-hot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每类开一列，属于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=1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否则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无序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类别少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(&lt;20)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类别多→维度爆炸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Ordinal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按序映射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1,2,3…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有序类别（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S/M/L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无序乱编号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捏造假大小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2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Frequency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类别→出现次数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高基数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频率有信息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同频类别无法区分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329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Target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类别→该类目标均值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高基数，榨干信息量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必须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折防泄漏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缺失值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异常值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9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TextBox 5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缺失值三种类型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81" name="Table 6"/>
          <p:cNvGraphicFramePr/>
          <p:nvPr/>
        </p:nvGraphicFramePr>
        <p:xfrm>
          <a:off x="548640" y="1828800"/>
          <a:ext cx="11063880" cy="182844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743200"/>
                <a:gridCol w="374868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例子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对策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MCAR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完全随机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纯属手滑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录入员漏填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直接补均值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中位数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MAR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有条件随机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缺失与其他特征有关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豪宅不愿报面积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用其他特征预测补（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KNN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插补）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MNAR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非随机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缺失本身携带信息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没车库→车库面积为空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不补！缺失即信息，填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"None"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82" name="TextBox 7"/>
          <p:cNvSpPr/>
          <p:nvPr/>
        </p:nvSpPr>
        <p:spPr>
          <a:xfrm>
            <a:off x="548640" y="384048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异常值检测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83" name="Table 8"/>
          <p:cNvGraphicFramePr/>
          <p:nvPr/>
        </p:nvGraphicFramePr>
        <p:xfrm>
          <a:off x="548640" y="4206240"/>
          <a:ext cx="11063880" cy="109692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420624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规则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适用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3σ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原则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偏离均值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个标准差之外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要求数据近正态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IQR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法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超出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Q1-1.5×IQR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或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Q3+1.5×IQR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更稳健，不假设分布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84" name="TextBox 9"/>
          <p:cNvSpPr/>
          <p:nvPr/>
        </p:nvSpPr>
        <p:spPr>
          <a:xfrm>
            <a:off x="548640" y="548640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特征变换对比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85" name="Table 10"/>
          <p:cNvGraphicFramePr/>
          <p:nvPr/>
        </p:nvGraphicFramePr>
        <p:xfrm>
          <a:off x="548640" y="5852160"/>
          <a:ext cx="11063880" cy="91404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5577840"/>
              </a:tblGrid>
              <a:tr h="228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特点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228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对数变换 </a:t>
                      </a:r>
                      <a:r>
                        <a:rPr b="1" lang="en-US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log1p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x &gt; -1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最简单，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+1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兼容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x=0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228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Box-Cox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必须严格正数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自动寻优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λ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，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λ=0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退化为</a:t>
                      </a: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log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28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Yeo-Johnson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支持零和负数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sklearn</a:t>
                      </a:r>
                      <a:r>
                        <a:rPr b="0" lang="zh-CN" sz="10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推荐默认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特征构造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分箱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特征选择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89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5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特征构造套路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91" name="Table 6"/>
          <p:cNvGraphicFramePr/>
          <p:nvPr/>
        </p:nvGraphicFramePr>
        <p:xfrm>
          <a:off x="548640" y="1828800"/>
          <a:ext cx="11063880" cy="201132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603504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例子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直觉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加和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TotalSF =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地下室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一楼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二楼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买家看总面积，没人分开算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时间差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房龄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销售年份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-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建造年份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几岁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比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哪年生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更影响价格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比率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平均每房面积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总面积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房间数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同样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100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㎡，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房和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房天壤之别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乘法交互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质量分 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×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总面积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好质量让每平米更值钱，协同效应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92" name="TextBox 7"/>
          <p:cNvSpPr/>
          <p:nvPr/>
        </p:nvSpPr>
        <p:spPr>
          <a:xfrm>
            <a:off x="548640" y="402336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分箱三种方法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93" name="Table 8"/>
          <p:cNvGraphicFramePr/>
          <p:nvPr/>
        </p:nvGraphicFramePr>
        <p:xfrm>
          <a:off x="548640" y="4389120"/>
          <a:ext cx="5303160" cy="164556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1371600"/>
              </a:tblGrid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适用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等宽 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pd.cut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按值域均分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分布均匀时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等频 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pd.qcut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每箱装同样多样本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偏态数据首选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业务规则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按领域知识划分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有领域知识时最香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94" name="TextBox 9"/>
          <p:cNvSpPr/>
          <p:nvPr/>
        </p:nvSpPr>
        <p:spPr>
          <a:xfrm>
            <a:off x="548640" y="402336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特征选择三流派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95" name="Table 10"/>
          <p:cNvGraphicFramePr/>
          <p:nvPr/>
        </p:nvGraphicFramePr>
        <p:xfrm>
          <a:off x="6309360" y="4389120"/>
          <a:ext cx="5303160" cy="201132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914400"/>
                <a:gridCol w="73152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流派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优点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缺点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Filter</a:t>
                      </a:r>
                      <a:r>
                        <a:rPr b="1" lang="zh-CN" sz="9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过滤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看简历筛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不看配合，只看单项指标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极快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不知岗位匹配度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Wrapper</a:t>
                      </a:r>
                      <a:r>
                        <a:rPr b="1" lang="zh-CN" sz="9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包装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试用期考核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实际训模型决定去留</a:t>
                      </a:r>
                      <a:r>
                        <a:rPr b="0" lang="en-US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(RFE)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最准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每删一个重训，极慢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Embedded</a:t>
                      </a:r>
                      <a:r>
                        <a:rPr b="1" lang="zh-CN" sz="9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嵌入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末位淘汰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训练中模型自己打分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性价比最高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9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依赖模型打分机制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96" name="TextBox 11"/>
          <p:cNvSpPr/>
          <p:nvPr/>
        </p:nvSpPr>
        <p:spPr>
          <a:xfrm>
            <a:off x="548640" y="649224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实战建议：</a:t>
            </a: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Filter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粗筛 → </a:t>
            </a: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Embedded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精筛；</a:t>
            </a: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Wrapper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只在特征少</a:t>
            </a: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(&lt;50)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时用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类别不平衡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· Pipeline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00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TextBox 5"/>
          <p:cNvSpPr/>
          <p:nvPr/>
        </p:nvSpPr>
        <p:spPr>
          <a:xfrm>
            <a:off x="548640" y="146304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不平衡处理：</a:t>
            </a: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SMOTE vs Class Weight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02" name="Table 6"/>
          <p:cNvGraphicFramePr/>
          <p:nvPr/>
        </p:nvGraphicFramePr>
        <p:xfrm>
          <a:off x="548640" y="1828800"/>
          <a:ext cx="11063880" cy="137124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2743200"/>
                <a:gridCol w="30175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适用场景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注意事项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SMOTE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在少数类样本间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杂交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造新样本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少数类极少（几十条）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只能用在训练集！先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SMOTE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再划分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=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泄漏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Class Weight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错杀少数类的惩罚放大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倍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样本充足、树模型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一行代码，不造数据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03" name="TextBox 7"/>
          <p:cNvSpPr/>
          <p:nvPr/>
        </p:nvSpPr>
        <p:spPr>
          <a:xfrm>
            <a:off x="548640" y="3291840"/>
            <a:ext cx="10972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不平衡数据评估用 </a:t>
            </a:r>
            <a:r>
              <a:rPr b="1" lang="en-US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PR-AUC / F1</a:t>
            </a:r>
            <a:r>
              <a:rPr b="1" lang="zh-CN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，不看 </a:t>
            </a:r>
            <a:r>
              <a:rPr b="1" lang="en-US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Accuracy</a:t>
            </a:r>
            <a:r>
              <a:rPr b="1" lang="zh-CN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（</a:t>
            </a:r>
            <a:r>
              <a:rPr b="1" lang="en-US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100</a:t>
            </a:r>
            <a:r>
              <a:rPr b="1" lang="zh-CN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万里</a:t>
            </a:r>
            <a:r>
              <a:rPr b="1" lang="en-US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10</a:t>
            </a:r>
            <a:r>
              <a:rPr b="1" lang="zh-CN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件危险品，全放行也</a:t>
            </a:r>
            <a:r>
              <a:rPr b="1" lang="en-US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99.999%</a:t>
            </a:r>
            <a:r>
              <a:rPr b="1" lang="zh-CN" sz="1100" spc="-1" strike="noStrike">
                <a:solidFill>
                  <a:srgbClr val="ff6b6b"/>
                </a:solidFill>
                <a:latin typeface="微软雅黑"/>
                <a:ea typeface="微软雅黑"/>
              </a:rPr>
              <a:t>）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4" name="TextBox 8"/>
          <p:cNvSpPr/>
          <p:nvPr/>
        </p:nvSpPr>
        <p:spPr>
          <a:xfrm>
            <a:off x="548640" y="384048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Pipeline </a:t>
            </a:r>
            <a:r>
              <a:rPr b="1" lang="zh-CN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四大作用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05" name="Table 9"/>
          <p:cNvGraphicFramePr/>
          <p:nvPr/>
        </p:nvGraphicFramePr>
        <p:xfrm>
          <a:off x="548640" y="4206240"/>
          <a:ext cx="11063880" cy="2011320"/>
        </p:xfrm>
        <a:graphic>
          <a:graphicData uri="http://schemas.openxmlformats.org/drawingml/2006/table">
            <a:tbl>
              <a:tblPr/>
              <a:tblGrid>
                <a:gridCol w="1371600"/>
                <a:gridCol w="5486400"/>
                <a:gridCol w="420624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类比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①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防泄漏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cross_val_score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每折只在训练折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fit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预处理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次模拟考，次次真闭卷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②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保一致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预测自动套训练参数，不会漏步骤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用错模式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全国门店一个味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③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可搜索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双下划线穿透子步骤，预处理选择也成超参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配方本身也能优化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④ 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易部署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joblib.dump(pipe) 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预处理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模型一个文件打包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料理包整包配送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06" name="TextBox 10"/>
          <p:cNvSpPr/>
          <p:nvPr/>
        </p:nvSpPr>
        <p:spPr>
          <a:xfrm>
            <a:off x="548640" y="6309360"/>
            <a:ext cx="4571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微软雅黑"/>
                <a:ea typeface="微软雅黑"/>
              </a:rPr>
              <a:t>Pipeline vs ColumnTransformer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7" name="TextBox 11"/>
          <p:cNvSpPr/>
          <p:nvPr/>
        </p:nvSpPr>
        <p:spPr>
          <a:xfrm>
            <a:off x="1645920" y="6309360"/>
            <a:ext cx="96008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Pipeline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纵向串联（时间轴：先做什么后做什么） </a:t>
            </a:r>
            <a:r>
              <a:rPr b="0" lang="en-US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| ColumnTransformer</a:t>
            </a:r>
            <a:r>
              <a:rPr b="0" lang="zh-CN" sz="1100" spc="-1" strike="noStrike">
                <a:solidFill>
                  <a:srgbClr val="aaaaaa"/>
                </a:solidFill>
                <a:latin typeface="微软雅黑"/>
                <a:ea typeface="微软雅黑"/>
              </a:rPr>
              <a:t>横向分流（空间轴：哪列走哪条路）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0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对症下模型：技术 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× 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模型 速查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1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212" name="Table 5"/>
          <p:cNvGraphicFramePr/>
          <p:nvPr/>
        </p:nvGraphicFramePr>
        <p:xfrm>
          <a:off x="548640" y="1645920"/>
          <a:ext cx="11063880" cy="411444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55778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技术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服务谁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00" spc="-1" strike="noStrike">
                          <a:solidFill>
                            <a:srgbClr val="00b4d8"/>
                          </a:solidFill>
                          <a:latin typeface="微软雅黑"/>
                          <a:ea typeface="微软雅黑"/>
                        </a:rPr>
                        <a:t>一句话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log / Box-Cox / YJ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LR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SVM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KNN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掰正歪分布，树模型免了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标准化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归一化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梯度下降类、距离类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统一尺度，梯度下降直指圆心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特征组合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交互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所有模型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通用增益，但要消融验证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分箱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线性模型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帮直线学会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拐弯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"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，树模型自己会找切点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One-hot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编码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所有模型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无序类别少的时候用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Target</a:t>
                      </a: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编码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所有模型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高基数类别，必须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折防泄漏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SMOTE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线性模型、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KNN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少数类极少时用，树模型用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Class Weight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正则化 </a:t>
                      </a:r>
                      <a:r>
                        <a:rPr b="1" lang="en-US" sz="1100" spc="-1" strike="noStrike">
                          <a:solidFill>
                            <a:srgbClr val="ff6b6b"/>
                          </a:solidFill>
                          <a:latin typeface="微软雅黑"/>
                          <a:ea typeface="微软雅黑"/>
                        </a:rPr>
                        <a:t>L1/L2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LR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SVM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NN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防过拟合，</a:t>
                      </a: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L1</a:t>
                      </a:r>
                      <a:r>
                        <a:rPr b="0" lang="zh-CN" sz="11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还能做特征选择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3333"/>
                      </a:solidFill>
                    </a:lnL>
                    <a:lnR w="6480">
                      <a:solidFill>
                        <a:srgbClr val="333333"/>
                      </a:solidFill>
                    </a:lnR>
                    <a:lnT w="6480">
                      <a:solidFill>
                        <a:srgbClr val="333333"/>
                      </a:solidFill>
                    </a:lnT>
                    <a:lnB w="6480">
                      <a:solidFill>
                        <a:srgbClr val="333333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13" name="TextBox 6"/>
          <p:cNvSpPr/>
          <p:nvPr/>
        </p:nvSpPr>
        <p:spPr>
          <a:xfrm>
            <a:off x="548640" y="5943600"/>
            <a:ext cx="109724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树模型不需要特征标准化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/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变换 → 按排序找切分点，单调变换排序不变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▸  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但对目标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y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做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log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变换对树模型依然有用 → </a:t>
            </a:r>
            <a:r>
              <a:rPr b="0" lang="en-US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MSE</a:t>
            </a:r>
            <a:r>
              <a:rPr b="0" lang="zh-CN" sz="1200" spc="-1" strike="noStrike">
                <a:solidFill>
                  <a:srgbClr val="aaaaaa"/>
                </a:solidFill>
                <a:latin typeface="微软雅黑"/>
                <a:ea typeface="微软雅黑"/>
              </a:rPr>
              <a:t>不再被天价豪宅主导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Rectangle 2"/>
          <p:cNvSpPr/>
          <p:nvPr/>
        </p:nvSpPr>
        <p:spPr>
          <a:xfrm>
            <a:off x="548640" y="502920"/>
            <a:ext cx="72720" cy="4111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TextBox 3"/>
          <p:cNvSpPr/>
          <p:nvPr/>
        </p:nvSpPr>
        <p:spPr>
          <a:xfrm>
            <a:off x="777240" y="411480"/>
            <a:ext cx="100580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学习总结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7" name="Rectangle 4"/>
          <p:cNvSpPr/>
          <p:nvPr/>
        </p:nvSpPr>
        <p:spPr>
          <a:xfrm>
            <a:off x="548640" y="1280160"/>
            <a:ext cx="11063880" cy="9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5"/>
          <p:cNvSpPr/>
          <p:nvPr/>
        </p:nvSpPr>
        <p:spPr>
          <a:xfrm>
            <a:off x="548640" y="1554480"/>
            <a:ext cx="34743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00b4d8"/>
                </a:solidFill>
                <a:latin typeface="微软雅黑"/>
                <a:ea typeface="微软雅黑"/>
              </a:rPr>
              <a:t>阶段一 基础原理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548640" y="2011680"/>
            <a:ext cx="3474360" cy="15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ML ⊃ NN ⊃ DL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；监督有标签，无监督找结构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参数模型学，超参数人定；过拟合降方差，欠拟合增复杂度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线性回归用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MSE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，逻辑回归用交叉熵；梯度下降沿负梯度逐步逼近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KNN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看邻居投票，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K-Means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迭代找中心；都依赖距离，必须标准化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SVM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找最大间隔，支持向量决定边界；核技巧升维，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RBF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最常用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0" name="TextBox 7"/>
          <p:cNvSpPr/>
          <p:nvPr/>
        </p:nvSpPr>
        <p:spPr>
          <a:xfrm>
            <a:off x="4389120" y="1554480"/>
            <a:ext cx="34743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00b4d8"/>
                </a:solidFill>
                <a:latin typeface="微软雅黑"/>
                <a:ea typeface="微软雅黑"/>
              </a:rPr>
              <a:t>阶段二 树模型与集成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1" name="TextBox 8"/>
          <p:cNvSpPr/>
          <p:nvPr/>
        </p:nvSpPr>
        <p:spPr>
          <a:xfrm>
            <a:off x="4389120" y="2011680"/>
            <a:ext cx="3474360" cy="14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决策树可解释强但易过拟合；随机森林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Bagging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降方差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Boosting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串行降偏差；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GBDT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拟合残差，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XGBoost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全面优化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LightGBM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直方图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+Leaf-wise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更快更省内存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CatBoost Ordered Target Encoding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自动处理类别特征无泄漏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Stacking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用元模型学组合方式，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K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折生成元特征防泄漏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2" name="TextBox 9"/>
          <p:cNvSpPr/>
          <p:nvPr/>
        </p:nvSpPr>
        <p:spPr>
          <a:xfrm>
            <a:off x="8229600" y="1554480"/>
            <a:ext cx="34743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00b4d8"/>
                </a:solidFill>
                <a:latin typeface="微软雅黑"/>
                <a:ea typeface="微软雅黑"/>
              </a:rPr>
              <a:t>阶段三 特征工程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3" name="TextBox 10"/>
          <p:cNvSpPr/>
          <p:nvPr/>
        </p:nvSpPr>
        <p:spPr>
          <a:xfrm>
            <a:off x="8229600" y="2011680"/>
            <a:ext cx="3474360" cy="14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EDA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五步走：全局→目标→单变量→双变量→缺失异常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编码四法：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One-hot/Ordinal/Frequency/Target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（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Target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必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K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折）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变换：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log/Box-Cox/YJ 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掰正分布；树模型不需要但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y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变换仍有用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特征选择：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Filter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粗筛→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Embedded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精筛→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Wrapper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少用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▸  </a:t>
            </a:r>
            <a:r>
              <a:rPr b="0" lang="en-US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Pipeline+ColumnTransformer</a:t>
            </a: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：防泄漏、保一致、易部署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4" name="TextBox 11"/>
          <p:cNvSpPr/>
          <p:nvPr/>
        </p:nvSpPr>
        <p:spPr>
          <a:xfrm>
            <a:off x="548640" y="6217920"/>
            <a:ext cx="110638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00" spc="-1" strike="noStrike">
                <a:solidFill>
                  <a:srgbClr val="ff6b6b"/>
                </a:solidFill>
                <a:latin typeface="微软雅黑"/>
                <a:ea typeface="微软雅黑"/>
              </a:rPr>
              <a:t>特征工程决定模型上限，模型只是逼近这个上限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ectangle 2"/>
          <p:cNvSpPr/>
          <p:nvPr/>
        </p:nvSpPr>
        <p:spPr>
          <a:xfrm>
            <a:off x="5029200" y="3108960"/>
            <a:ext cx="2102760" cy="9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Rectangle 3"/>
          <p:cNvSpPr/>
          <p:nvPr/>
        </p:nvSpPr>
        <p:spPr>
          <a:xfrm>
            <a:off x="5029200" y="3154680"/>
            <a:ext cx="2102760" cy="9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Rectangle 4"/>
          <p:cNvSpPr/>
          <p:nvPr/>
        </p:nvSpPr>
        <p:spPr>
          <a:xfrm>
            <a:off x="5029200" y="3200400"/>
            <a:ext cx="2102760" cy="9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9" name="TextBox 5"/>
          <p:cNvSpPr/>
          <p:nvPr/>
        </p:nvSpPr>
        <p:spPr>
          <a:xfrm>
            <a:off x="0" y="2286000"/>
            <a:ext cx="12191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7200" spc="-1" strike="noStrike">
                <a:solidFill>
                  <a:srgbClr val="ffffff"/>
                </a:solidFill>
                <a:latin typeface="微软雅黑"/>
                <a:ea typeface="微软雅黑"/>
              </a:rPr>
              <a:t>THANKS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0" y="3474720"/>
            <a:ext cx="12191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2400" spc="-1" strike="noStrike">
                <a:solidFill>
                  <a:srgbClr val="aaaaaa"/>
                </a:solidFill>
                <a:latin typeface="微软雅黑"/>
                <a:ea typeface="微软雅黑"/>
              </a:rPr>
              <a:t>感谢聆听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1" name="TextBox 7"/>
          <p:cNvSpPr/>
          <p:nvPr/>
        </p:nvSpPr>
        <p:spPr>
          <a:xfrm>
            <a:off x="0" y="5943600"/>
            <a:ext cx="12191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666666"/>
                </a:solidFill>
                <a:latin typeface="微软雅黑"/>
                <a:ea typeface="微软雅黑"/>
              </a:rPr>
              <a:t>暑期培训 </a:t>
            </a:r>
            <a:r>
              <a:rPr b="0" lang="en-US" sz="1200" spc="-1" strike="noStrike">
                <a:solidFill>
                  <a:srgbClr val="666666"/>
                </a:solidFill>
                <a:latin typeface="微软雅黑"/>
                <a:ea typeface="微软雅黑"/>
              </a:rPr>
              <a:t>· </a:t>
            </a:r>
            <a:r>
              <a:rPr b="0" lang="zh-CN" sz="1200" spc="-1" strike="noStrike">
                <a:solidFill>
                  <a:srgbClr val="666666"/>
                </a:solidFill>
                <a:latin typeface="微软雅黑"/>
                <a:ea typeface="微软雅黑"/>
              </a:rPr>
              <a:t>机器学习方向 </a:t>
            </a:r>
            <a:r>
              <a:rPr b="0" lang="en-US" sz="1200" spc="-1" strike="noStrike">
                <a:solidFill>
                  <a:srgbClr val="666666"/>
                </a:solidFill>
                <a:latin typeface="微软雅黑"/>
                <a:ea typeface="微软雅黑"/>
              </a:rPr>
              <a:t>· 2026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2026-07-27T15:12:59Z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