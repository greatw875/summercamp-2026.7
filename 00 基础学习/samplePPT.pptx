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2"/>
  </p:notesMasterIdLst>
  <p:sldIdLst>
    <p:sldId id="286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17" r:id="rId33"/>
    <p:sldId id="319" r:id="rId34"/>
    <p:sldId id="320" r:id="rId35"/>
    <p:sldId id="321" r:id="rId36"/>
    <p:sldId id="322" r:id="rId37"/>
    <p:sldId id="323" r:id="rId38"/>
    <p:sldId id="324" r:id="rId39"/>
    <p:sldId id="325" r:id="rId40"/>
    <p:sldId id="327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4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AAA312-C3EE-42E9-8111-BBB3972A456C}" type="datetimeFigureOut">
              <a:rPr lang="zh-CN" altLang="en-US" smtClean="0"/>
              <a:t>2026-7-15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51E18C-EBAA-4B6B-9776-06D7BA235E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8638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大家好，接下来我们进入第二部分：计算机基础。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模块我们将深入探讨四个核心领域：首先是Linux核心系统，这是现代服务器端的基石；其次是Shell命令行交互，这是高效运维和开发的必备工具；然后是计算机网络协议，理解数据如何在网络中传输；最后是操作系统原理，帮助大家理解程序运行的底层逻辑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本模块共计25页内容，打好这些基础，将为你后续学习任何技术栈提供坚实的支撑。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大家好，这页PPT我们来探讨一个核心问题：为什么机器人和AI工程师必须要学Linux？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首先，结论非常明确：Linux是这个领域的事实标准，你绕不开它。为什么这么说？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第一，它是开发的基石。ROS2机器人操作系统只支持Linux，而像PyTorch、TensorFlow这些主流AI框架，以及我们训练模型用的服务器，几乎全都是跑在Linux上的。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第二，效率。命令行的效率是图形界面无法比拟的，无论是批量处理数据、远程操作服务器，还是启动训练任务，几行命令就能搞定，非常高效。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第三，生态。几乎所有的开源工具和算法库，都是最先支持Linux的，这意味着你能拿到最新的功能，遇到的坑也最少。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第四，稳定性。做工程最看重稳定，Linux系统可以连续运行几个月甚至几年不重启，这对于机器人的实时控制和AI服务的在线运行至关重要。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最后，这是找工作的硬门槛。不管是面试还是工作，这都是必备技能。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大家不要觉得它难，其实常用的命令就几十个，入门非常快，一周就能上手。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这一页我们来深入了解Linux的文件系统结构。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大家首先要建立一个核心认知：在Linux中，一切皆文件。无论是普通的文档、程序，还是硬件设备，在Linux看来都是文件。理解了这一点，我们再来看它的目录结构。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Linux的文件系统是一个倒挂的树状结构，从根目录“/”开始。这里有几个你必须熟悉的常用目录：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首先是/home，这是你的个人空间，就像Windows里的用户文件夹，存放着你的文档和个人设置。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然后是/root，这是系统管理员，也就是root用户的专属目录，拥有最高权限。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/etc目录非常重要，它是系统的配置中心，系统的全局设置和软件的配置文件都在这里。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/bin和/sbin是系统的命令宝库，我们平时用的ls、cd这些命令都在/bin里，而/sbin里则是一些系统管理用的命令。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/usr目录相当于Windows的Program Files，我们安装的各种软件通常都在这里。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最后，/dev目录体现了“一切皆文件”的思想，它把所有的硬件设备都映射成了文件，比如你的硬盘、U盘、鼠标等。还有/tmp目录，是存放临时文件的地方，重启电脑后这里的内容就会消失。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大家不用死记硬背，只要记住这几个最常用的，随着使用次数的增加，自然就熟悉了。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这一页我们来深入了解Linux系统中最常用的10个文件操作命令。正如屏幕上所总结的，这10个命令覆盖了我们日常工作中80%的文件管理需求。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首先是基础的导航三剑客：ls用于查看目录内容，配合-l和-a参数可以获取更详细的信息；cd是切换目录的关键，熟练使用cd ..和cd ~能大大提高效率；pwd则是你在终端中“防迷路”的指南针。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在文件操作方面，mkdir用于创建目录，记得使用-p参数来递归创建多层结构；cp和mv分别负责复制和移动/重命名，注意复制文件夹时要加-r参数。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这里要特别提醒大家注意rm命令，它是一个高危操作，使用时务必谨慎，特别是不要在根目录下执行rm -rf，这会导致系统文件被删除。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最后，查看文件内容有cat和less两个常用命令，cat适合小文件，而less则是查看大文件的利器。find命令则能帮助我们快速在系统中定位到目标文件。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掌握这10个命令，你就能应对绝大多数的Linux文件管理场景了。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这一页我们来深入了解Linux的权限管理，这是解决"Permission denied"报错的关键。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首先，Linux中每个文件都有三种权限：读(r=4)、写(w=2)、执行(x=1)，这三种权限分别对应三类用户：文件所有者、同组用户和其他用户。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大家看中间的这排卡片，这就是我们用ls -l命令看到的权限结构：第一位是文件类型，后面每三位分别代表所有者、同组和其他用户的权限。比如rw-r--r--，就代表所有者有读写权限，而同组和其他用户只有读权限。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在下方，我们列出了三个最常用的权限管理命令：chmod用于修改权限，chown用于修改文件的归属，而sudo则是用来获取管理员权限执行命令的神器。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最后，当你遇到Permission denied时，其实就两种解决思路：如果是系统级的操作，比如安装软件，就用sudo提权；如果是操作自己的文件，比如脚本无法执行，那就用chmod给它加上执行权限。掌握了这些，你就能轻松驾驭Linux的权限系统了。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这一页我们来学习如何通过SSH远程连接你的机器人或服务器。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首先，SSH是行业标准，它不仅安全，而且是远程操作的基础。我们不需要给机器人接上笨重的显示器和键盘，只需要通过网络就能控制它。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第一步，必须在机器人端安装SSH服务，这是开启大门的钥匙。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第二步，在你的电脑上使用ssh命令连接，格式很简单，就是“ssh 用户名@IP地址”。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第三步，如何传文件？用scp命令，它也是基于SSH的，非常安全。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为了方便，我们可以配置免密登录，省去每次输密码的麻烦。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最后，推荐大家使用VS Code的Remote SSH插件，这样你就可以直接在本地用VS Code写代码、调试远程机器上的程序，体验非常流畅。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大家好，今天我们来聊聊Linux下四个最常用的文本处理工具：grep、vim、awk和sed。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首先是grep，它是搜索神器，无论是找日志里的错误信息，还是在代码库里找某个函数定义，用grep的递归搜索功能都非常方便。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然后是vim，这是终端里的编辑器，学会它最基本的插入、保存和退出命令，就能在没有图形界面的服务器上轻松修改配置文件。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接下来是awk，它专门用来处理像表格一样的列格式数据，比如分析日志或者CSV文件，提取特定的列非常高效。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最后是sed，它是流编辑器，主要用来批量替换文件内容，比如要把配置文件里的某个旧地址全部换成新地址，用sed一条命令就能搞定。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这四个工具是Linux系统管理员和开发人员的必备技能，掌握它们能极大地提高处理文本的效率。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大家好，今天我们来快速了解一下Shell脚本的基础知识。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首先，为什么要学Shell脚本？它的核心价值在于“自动化”。当你有一系列需要重复执行的命令时，把它们写进一个脚本文件，运行一次就能搞定，这能极大地解放我们的双手。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使用Shell脚本主要分为三步：第一，在脚本第一行声明解释器，通常是#!/bin/bash；第二，用chmod命令给脚本添加可执行权限；第三，直接运行这个脚本文件。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我们来看看几个常用的语法：比如变量的定义和使用，循环结构用于批量处理任务，条件判断用于逻辑分支，以及如何接收外部传入的参数。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这里有一个非常实用的例子：批量重命名。比如你想把当前目录下所有的txt文件都改成md格式，只需要一个简单的for循环配合mv命令就能实现，非常方便。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最后，关于场景选择，Shell非常适合处理简单的系统管理和文件操作任务；但如果是处理非常复杂的逻辑或者需要进行大量数据计算，Python可能是更好的选择。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这一页我们来聊聊计算机网络的基础知识，这对于机器人开发和分布式系统来说是必不可少的。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首先，我们需要知道五个核心概念：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**IP地址**：它是每台设备的唯一标识，就像门牌号，确保数据能准确找到目标设备。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**端口**：如果IP是门牌号，那么端口就是房间号。一台设备有65535个端口，不同的网络服务会占用不同的端口，比如我们常用的网页服务用80端口，远程登录用22端口。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**TCP和UDP**：这是两种主要的传输协议。TCP像打电话，必须建立连接，保证数据一定送到，适合传输控制指令；UDP像广播，速度快但不保证一定送到，适合传输视频流或传感器数据。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4. **HTTP/HTTPS**：这是应用层协议，我们平时上网、调用API都是用它，在机器人中常用于和云端交互。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5. **局域网和公网**：机器人开发主要在局域网内进行，也就是同一个WiFi下的设备互相通信；而公网就是互联网，如果你要远程控制机器人，就需要涉及公网访问。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掌握这些基础概念，不需要深入研究网络理论，就足以解决我们在开发中遇到的大部分网络连接问题了。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大家好，今天我们来深入了解操作系统的几个核心概念，这些概念对于我们编写高性能的程序至关重要。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首先是进程和线程。进程是程序运行的独立实体，拥有自己的内存空间，彼此之间互不干扰。而线程则是进程内的执行单元，它们共享进程的资源，通信更高效，但也带来了一些同步的挑战。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接下来是并发和并行，这是两个容易混淆的概念。并发是CPU快速切换任务，看起来像是同时进行；而并行则是真正的同时进行，利用多核CPU处理多个任务。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在存储方面，我们需要了解物理内存的特性，它速度快但易失。虚拟内存则是一种扩展内存的技术，虽然解决了容量问题，但会影响性能。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最后是中断机制，它是操作系统响应外部事件的基础，比如硬件设备的数据到达。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理解这些概念，能帮助我们更好地优化代码，写出更高效、更稳定的程序。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大家好，今天我们来深入了解一下“环境变量”，这是解决“command not found”这个经典报错的关键。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首先，什么是环境变量？简单来说，它是操作系统层面的全局配置参数，所有运行的程序都能读取到这些信息。它就像一个系统的“公告栏”，告诉程序各种关键的系统设置。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中最核心的就是PATH变量。当你在终端输入一个命令时，系统其实是拿着这个命令去PATH里记录的目录中挨个查找。如果找到了对应的可执行文件，就运行它；如果找遍了都没找到，就会报出大家熟悉的“找不到命令”的错误。这就是为什么你明明装了软件却用不了的原因——系统不知道去哪找它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那怎么解决呢？很简单，只需要三步：首先编辑配置文件（比如bashrc或zshrc），然后把软件的安装路径追加到PATH后面，最后让配置生效。这样系统就知道去哪找你的程序了。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除了PATH，还有一些常用的变量，比如LD_LIBRARY_PATH用于查找动态链接库，PYTHONPATH用于Python查找自定义模块。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最后，给大家一个排查技巧：遇到找不到命令时，先用echo $PATH看看你的路径是不是真的加进去了。记住，90%的此类问题都是因为路径没有被正确添加到环境变量中。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大家好，今天我们来聊聊Python开发中最基础也最重要的一环——虚拟环境。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很多新手朋友，包括我刚开始学的时候，最容易犯的一个致命错误就是直接在系统里用sudo pip install安装包。这会直接污染你的系统Python环境。为什么说它致命呢？因为Linux系统本身就依赖Python来运行很多管理工具，比如apt或者yum。如果你把系统依赖的某个库版本升级或者降级了，就可能导致这些系统命令无法使用，严重的甚至会让系统崩溃，最后只能重装系统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这就是为什么我们需要虚拟环境。它的核心作用就是“隔离”。不同的项目往往需要不同版本的库，比如一个旧项目需要TensorFlow 1.x，而新项目需要TensorFlow 2.x，这些依赖如果装在一起就会冲突。虚拟环境就像是给每个项目分配了一个独立的房间，各自的家具（依赖包）互不影响。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我们常用的工具有两个：一个是Python自带的venv，它非常轻量，适合大部分纯Python项目；另一个是Conda，它不仅能管理Python包，还能管理C++库或者CUDA，非常适合做AI和数据分析的同学。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最后，除了使用虚拟环境，我们还要养成一个好习惯，就是维护requirements.txt文件。它能把你项目的所有依赖记录下来，这样别人拿到你的代码，就能一键安装所有需要的库，避免了环境配置不一致带来的问题。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记住，从你创建项目的第一步开始，就应该先创建虚拟环境，这能帮你避免90%的依赖问题。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大家好，今天我们来聊聊 Docker，这个能解决开发界“世纪难题”的神器。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不知道大家有没有遇到过这种情况：你写好的代码在自己电脑上跑得好好的，但是同事拉取代码后却怎么也跑不起来，最后无奈地说一句“在我电脑上能跑啊”。这通常是因为环境不一致、依赖库版本冲突或者系统差异导致的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Docker 就是为了解决这个问题而生的。它的核心思想是把代码、运行环境、依赖库等所有东西都打包成一个“镜像”，就像一个标准的安装包。无论在哪台机器上，只要安装了 Docker，运行这个镜像就能得到完全一致的环境。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这里有三个核心概念需要大家理解：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首先是镜像（Image），它是只读的模板，就像软件的安装包。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然后是容器（Container），它是镜像运行起来的实例，就像安装好的软件正在运行，而且容器之间是相互隔离的。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还有 Dockerfile，它是用来构建镜像的脚本，相当于制作安装包的说明书。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最后，给大家列了几个最常用的 Docker 命令，包括运行容器、构建镜像、查看容器状态以及进入容器内部。掌握这些基础命令，你就可以开始使用 Docker 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这一页我们来深入了解Linux命令行中最实用的9个快捷键，掌握它们能让你的操作效率翻倍。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首先是最常用的Tab键，它是自动补全的神器，无论是命令还是文件名，按一下就能补全，按两下能列出所有选项，这能帮你减少大量的输入错误和时间。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然后是Ctrl+C，这是程序的“急停开关”，当你的程序卡死或者跑飞的时候，按下它就能立刻终止，夺回终端的控制权。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Ctrl+L是快速清屏，相当于clear命令，让你的屏幕保持整洁。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Ctrl+D可以优雅地退出终端或者像Python这样的交互环境。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在编辑命令时，Ctrl+A和Ctrl+E分别能让光标跳到行首和行尾，这在处理长命令时非常有用。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如果命令输错了，Ctrl+U可以一键删除光标前面的所有内容，比一个个按退格键快多了。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Ctrl+R是搜索历史命令，输入关键词就能找到你之前用过的命令，避免重复输入。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最后，history命令可以查看你之前执行过的所有命令，用!加编号就能重新运行，非常方便。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希望大家在日常使用中多加练习，形成肌肉记忆，这样就能真正体验到命令行的高效。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大家好，今天我们来聊聊Linux新手最容易踩的坑。作为一个过来人，这些坑我基本都踩过，所以特别想分享给大家，帮大家避坑。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首先，最最危险的就是rm -rf命令，尤其是加上sudo的时候，这是删库跑路的元凶，执行前一定要先用ls确认路径。其次，不要随意修改系统核心目录的文件，比如/etc和/usr，改坏了系统直接崩溃。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第三，日常操作不要用root用户，这太危险了，用普通用户，需要权限的时候用sudo。第四，不要随便复制网上的脚本直接运行，特别是curl管道bash的，一定要先看源码。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还有两个基础但容易忽视的点：Linux对空格和大小写非常敏感，这经常导致命令执行失败。最后，遇到问题不要急着重装系统，解决问题的过程才是你真正学习Linux的过程。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大家在使用Linux的过程中，难免会遇到各种各样的报错。其实，绝大多数问题都有迹可循。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首先，也是最重要的一点：看报错信息！不要一看到红色的字就慌了，90%的问题，系统已经把原因写在屏幕上了。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我们总结了几个最常见的场景：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比如遇到Permission denied，这是权限问题，要么用sudo提权，要么修改文件权限。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如果是command not found，要么是软件没装，要么是路径没配置对。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还有端口占用、磁盘满了、网络不通等，都有对应的命令可以快速定位和解决。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最后想告诉大家，遇到问题不要怕，Linux社区非常活跃，你遇到的问题，大概率别人也遇到过，善用搜索，你就能解决99%的问题。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这一页我们来聊聊如何利用AI来辅助我们使用Linux，核心思想就是“拒绝死记硬背”。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大家在使用Linux时，最头疼的往往不是操作逻辑，而是记不住具体的命令参数。现在有了AI，我们完全可以换一种方式：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首先是“命令生成”，你只需要告诉AI你想做什么，比如“找出大文件并删除”，它不仅会给你命令，还能解释参数和风险。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其次是“报错排查”，这是最高频的需求，把报错信息和你已经尝试过的操作告诉AI，它能帮你快速定位问题。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然后是“脚本生成”，对于重复性工作，直接让AI帮你写脚本，还能要求加注释，非常方便。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最后是“命令解析”，当你看到一个陌生的复杂命令时，让AI帮你拆解每一个参数，这样你不仅会用，还能理解。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当然，最后要特别提醒大家注意安全，AI虽然强大，但生成的命令在生产环境执行前，一定要先理解、先测试，特别是涉及删除和系统配置的操作，安全永远是第一位的。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大家好，这一页我们来聊聊Linux的学习资源。很多同学看到厚厚的Linux书籍就望而却步，其实完全没必要。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Linux的核心学习心法就是：拒绝死啃厚书，边用边学才是最快的捷径。它本质上只是一个工具，用得越多越熟练。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这里给大家推荐几个具体的资源和方法：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首先是入门书籍，推荐《鸟哥的Linux私房菜》，但不要从头到尾读，把它当作工具书，遇到问题再去查，效率更高。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其次是在线实战，Linux Journey是一个非常好的免费网站，提供交互式的命令行环境，让你边练边学。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在使用过程中，遇到忘记的命令，直接用系统自带的man手册，或者更简洁的tldr工具，随查随用。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最重要的一点，我强烈建议大家把Ubuntu作为主力机使用一个月，在真实的工作场景中去用它，而不是只在虚拟机里偶尔玩玩。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最后，不要贪多，作为AI或机器人工程师，常用的命令就几十个，用多了自然就记住了。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大家好，这一页我们来集中解答一下大家关于Linux学习和使用的常见疑问。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系统选择的问题，入门阶段大家完全可以使用熟悉的Windows或macOS，特别是macOS，它的命令行体验和Linux非常接近。但如果要深入做机器人开发、ROS2或者大模型部署，Linux是绕不开的，建议大家装个双系统或者用WSL2过渡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关于命令记忆，大家不要有压力，常用的命令用多了自然就会了，不常用的现查就好，现在还有AI工具可以随时辅助。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Linux当然有图形界面，比如Ubuntu默认就带，但作为开发者，我们要习惯用命令行，因为它效率更高。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如果不小心删了系统文件，可能只能重装，但如果是代码，只要你用了Git，就永远不会丢，所以养成使用Git的习惯非常重要。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最后，WSL2是很好的入门工具，但如果涉及到硬件开发，还是建议用实体的Linux系统。希望这些解答能帮到大家，Linux并不难，多练多用就好。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大家好，这页PPT是我们对“计算机基础与Linux核心”模块的全面小结。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首先，我想强调一个核心结论：计算机基础是所有技术的地基。无论是未来学习Python、AI开发，还是进行机器人部署，这些基础都是必不可少的。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我们回顾一下本模块的12个关键知识点，我将它们分为了三个维度：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第一是“系统基石”，包括Linux系统的核心认知、文件系统结构、权限管理以及包管理。这些是你在Linux环境下工作的基础。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第二是“运维与效率”，涵盖了进程管理、SSH远程连接、高效的文本处理工具以及Shell脚本。掌握这些能极大提升你的工作效率。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第三是“底层与扩展”，包括网络基础、操作系统核心原理、环境变量配置以及Docker等虚拟化技术。这些知识能帮助你理解系统背后的运行机制，并解决复杂的环境问题。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希望大家通过本模块的学习，能够夯实基础，为后续的技术进阶打下坚实的基础。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大家好，这一页我们来看看具体的课后练习内容。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学习Linux最好的方法就是动手实践。我为大家准备了六个从基础到进阶的练习任务。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首先是基础环境的搭建，包括系统安装和开发工具的配置，这是我们的起跑线。然后是终端文件的操作，这是使用Linux最频繁的场景，大家要多敲多练。接着是远程连接，这对于管理服务器和机器人非常重要。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进阶部分，我们需要尝试编写简单的Shell脚本，体验自动化的魅力；学会管理Python虚拟环境，这是开发项目的必备技能；最后，简单体验一下Docker容器，感受现代软件开发的基础设施。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大家不用等到学完所有理论再去做，现在就可以边看边练，遇到问题随时查阅资料。相信我，坚持练习一周，你就能熟练掌握这些技能。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大家好，欢迎来到第三部分——编程能力。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这一模块我们将深入探讨如何写出高质量的代码。这不仅仅是关于语法的正确，更是关于如何写出“干净、可维护、能跑”的代码。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我们将从四个维度展开：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首先是Python核心，这是我们的基础工具；其次是工程规范，这是团队协作的基石；然后是Git版本管理，这是现代软件开发的标配；最后是调试与优化，这是保证代码健壮性的关键。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整个模块包含25页的干货，希望能帮助大家建立起专业的工程素养。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这一页我们来探讨为什么Python是机器人和AI领域的首选语言。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首先，Python的语法非常简单，它的代码量只有C++的三分之一甚至五分之一，这意味着你可以用更少的时间写出同样功能的代码，快速验证你的想法。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其次，它的生态系统是无敌的。无论是AI领域的PyTorch、TensorFlow，还是机器人领域的ROS2，Python都有最完善的支持，你不需要重复造轮子。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第三，它具有极强的可扩展性。虽然Python是解释型语言，但你可以将性能要求极高的部分用C++编写，然后用Python调用，这样既保证了开发效率，又兼顾了运行性能。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第四，它的社区非常庞大，资料也多，遇到问题很容易找到答案，对新手非常友好。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最后，它是行业的刚需，是找工作的敲门砖。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当然，C++也很重要，但作为入门，Python能让你更快地做出东西，获得正反馈。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聊聊Python的核心语法。很多初学者看到Python庞大的标准库和丰富的语法特性会感到无从下手。但实际上，我们有一个核心洞察：日常开发中，你只需要掌握大约20%的核心语法，就足以应对90%的业务需求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我们将这些核心语法归纳为六大关键模块：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首先是基础，包括基本数据类型和四大核心数据结构——列表、字典、元组和集合，它们是处理数据的基础。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其次是流程控制，学会如何让程序做判断和循环，这是控制程序逻辑的关键。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第三是函数，它是代码复用的灵魂，让你的代码更简洁、更易维护。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第四是面向对象，这是Python的核心编程范式，帮助你构建更复杂、更模块化的应用。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第五是文件操作，这是实现数据持久化的基础，让你的程序能够读写文件，保存数据。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最后是异常处理，这是保证程序稳定性的关键，让你的程序在遇到错误时不会直接崩溃。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掌握了这六大模块，你就具备了进行Python开发的核心能力。至于剩下的那些偏门语法，完全可以在实际项目中遇到时再去查阅和学习，不用在一开始就死记硬背。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这一页我们重点介绍了Python开发中最常用的7个库，它们覆盖了从底层计算到上层应用的各个方面。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首先是NumPy，它是科学计算的基础，无论是做AI还是机器人，都离不开它对数组和矩阵的高效处理。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Matplotlib是数据可视化的利器，做科研写论文必不可少。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OpenCV则是机器视觉领域的核心库，处理图像和视频都要用到它。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Pandas专门用来处理表格数据，做数据分析非常方便。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此外，还有处理配置文件的PyYAML、让代码更友好的进度条工具Tqdm，以及处理网络请求的Requests。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掌握这些库，能极大地提高你的Python开发效率。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这一页我们来深入了解Python的官方代码规范——PEP8。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首先，大家要记住一个核心观点：代码是写给人看的，机器只是顺便运行它。一个规范的代码风格，对于团队协作和后期维护至关重要。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我们梳理了PEP8中最重要的七个方面：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左边是基础格式：缩进必须用4个空格，不要用Tab；单行代码不要太长，保持在88个字符以内；命名要规范，变量用蛇形，类用大驼峰；同时要合理使用空行来分隔代码块，让代码有“呼吸感”。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是细节与工具：注意运算符和逗号后的空格，这些细节能极大提升可读性；注释要随着代码一起更新，不要留下误导人的旧注释。最后，大家不需要死记这些规则，现在有很多优秀的自动化工具，比如flake8和black，能自动帮你检查和格式化代码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养成良好的编码规范，不仅是对代码的尊重，更是对自己和同事时间的尊重。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这一页我们来探讨如何写出“干净的代码”。很多人认为代码只要能运行就行，但实际上，代码是给人看的，更是给未来的自己和团队看的。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写干净代码有几个核心原则：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首先是命名，这是最基础也最重要的。不要吝啬变量名的长度，要做到“见名知意”，让名字本身成为最好的注释。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其次，函数要短小，遵循单一职责原则。一个函数只做一件事，不仅更容易阅读，也更容易测试和复用。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还要拒绝炫技，代码不是秀场，简单直白才是王道。同时，要严格遵守DRY原则，不要重复造轮子，重复的代码不仅增加维护成本，还容易产生不一致的Bug。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在结构上，要保持扁平，避免过深的嵌套，善用提前return来简化逻辑。最后，不要写魔法数字，给数字赋予语义化的常量名；在错误处理上，要精准捕获，不要随意吞掉异常，否则排查问题会非常困难。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记住，写代码时多问问自己：三个月后的我还能看懂吗？这是衡量代码质量的重要标准。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这一页我们来聊聊为什么Git是程序员必备的工具。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很多新手刚开始写代码时，最容易犯的错误就是：代码改来改去，最后改乱了想回退却回不去；或者好不容易修复了一个Bug，结果又引入了新的问题，却不知道到底改了哪里；甚至电脑坏了，写了几个月的代码瞬间丢失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Git就是解决这些问题的终极方案：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首先，它是你的代码时光机，提供强大的版本控制功能，每次提交都会生成快照，让你随时可以回到之前的任何一个状态。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其次，它是一个安全的备份工具，只要你把代码推送到云端仓库，无论本地发生什么，代码都不会丢。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再者，它是团队协作的基础，能够智能地合并大家的代码，避免互相覆盖的尴尬。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最后，它给了你大胆尝试的勇气，通过分支功能，你可以在不影响主代码的前提下进行任何实验性修改。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所以，从你写下第一行代码开始，就应该养成使用Git的习惯。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大家好，今天我们来快速掌握Git的核心概念和日常必备命令。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首先，我们要理解Git的四个核心概念：仓库是项目的容器；提交是对代码的快照；分支让我们可以并行开发；远程仓库则是云端的备份和协作中心。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在日常开发中，其实你只需要掌握这10个命令就足够了：从初始化仓库的git init，到添加修改的git add，再到提交的git commit。git status和git log帮你随时了解仓库状态和历史。git diff让你看到具体的代码改动。而对于分支管理，git branch和git switch是基础，git merge用于合并。最后，通过git push和git pull实现本地与远程仓库的同步。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掌握这些，你就能轻松应对日常的版本管理和团队协作了。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Debug是程序员必备的技能，但很多新手容易陷入“瞎改”的误区。今天我们来聊聊科学的Debug方法。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首先，核心心法是拒绝瞎改，建立逻辑闭环。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具体分为七个步骤：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稳定复现：这是基础，必须知道在什么情况下会出现问题。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界定差异：明确预期结果和实际结果的不同。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二分法定位：这是最高效的缩小范围的手段。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4. 日志实证：不要猜，要看实际的数据。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5. 断点调试：善用工具，让程序慢下来。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6. 深挖根因：治标更要治本。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7. 验证回归：确保修复彻底且没有副作用。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记住，耐心比速度更重要。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大家好，今天我们来聊聊“断点调试”。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很多编程新手在调试代码时，最常用的方法就是在代码里插入大量的 print 语句，运行后看控制台的输出。这种方法不仅会让代码变得非常杂乱，而且调试结束后还需要花时间把这些 print 语句一个个删掉，效率非常低。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学会使用断点调试，能让你的排错效率至少提升 10 倍。它的核心逻辑非常简单：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第一步，在你想让程序暂停的代码行号左边点一下，打上一个红色的断点；第二步，按下 F5 启动调试，程序就会运行到这个断点的位置自动停下来；第三步，这时候你就可以在调试面板里清晰地看到所有变量的当前值、内存状态以及函数调用栈，完全不需要 print。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在调试过程中，掌握几个关键的控制指令也很重要：比如 F9 继续运行到下一个断点，F10 逐行跳过，F11 深入函数内部查看细节。这些功能在主流的编程语言如 Python、C++、Java 中都是通用的。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只需要花 10 分钟的时间去熟悉这些操作，你在日后的开发中就能节省大量的调试时间。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大家好，这一页我们来聊聊异常处理。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程序运行中遇到错误是不可避免的，比如文件找不到、网络断开、参数错误等等。如果不处理，程序就会直接崩溃，这对用户体验和系统稳定性来说是致命的。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首先，我们要做到“精准捕获”。不要用裸露的 except 去捕获所有异常，这会掩盖掉严重的错误，让你连程序哪里出了问题都不知道。要捕获具体的异常类型。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其次，不要把异常当作流程控制的工具。它是用来处理意外错误的，不是用来判断“用户是否存在”这种正常逻辑的。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第三，利用好 finally。无论有没有异常，这里的代码都会执行，非常适合用来释放资源，比如关闭文件或者数据库连接。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在进阶实践方面，当遇到明显的非法情况时，要主动抛出异常，让问题尽早暴露。同时，一定要打好日志，把错误信息和当时的上下文记录下来，这是排查问题的关键。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最后，记住一个原则：好的程序不是没有Bug，而是出了Bug不会直接崩溃，能够优雅地处理错误，给出明确的提示，或者自动恢复。这才是健壮的程序。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这一页我们来盘点一下Python中最常见的10个坑。这些问题在新手阶段非常容易遇到，甚至有经验的开发者偶尔也会疏忽。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首先，左边这几个坑主要集中在基础语法和数据结构上：比如默认参数使用可变对象、列表的浅拷贝问题、小整数缓存机制带来的is判断误区、循环中Lambda的闭包延迟绑定，以及遍历字典时直接删除元素的错误。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右边则涉及到更深一点的机制和环境问题：包括GIL锁对多线程的影响、浮点数的精度误差、模块导入的路径问题、文件读写的编码设置，以及类定义中self的使用规范。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了解这些坑点，不仅能帮大家避免写出有问题的代码，也能在遇到bug时快速定位原因。希望大家在实际开发中能绕开这些弯路。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大家好，这页PPT我们来聊聊如何写出可维护的代码。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首先，我们要建立一个核心认知：代码不是写完就结束的，它是一个持续演进的产物。无论是后续的Bug修复、功能迭代，还是团队成员的交接，都需要代码具备良好的可维护性。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那么具体怎么做呢？我总结了六个关键点：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第一，模块化拆分。不要把所有代码都堆在一个文件里，要按照功能进行分类，比如把工具函数放在utils里，算法放在algorithm里，这样结构清晰，找起来也方便。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第二，写好README。这是项目的门面，要把项目是干嘛的、怎么装、怎么用写清楚，这不仅是给别人看的，也是给未来的自己看的。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第三，配置外置。不要把那些容易变的参数，比如IP、端口、阈值写死在代码里，放在配置文件里，改起来方便，也不容易出错。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第四，规范打日志。不要只用print，用logging模块，分级别记录，这样出问题的时候，看日志就能快速定位，而不是靠猜。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第五，不要写死路径。用相对路径或者配置管理，否则换个电脑代码就跑不起来了，非常影响效率。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最后，接口要简单。模块之间的接口设计要尽量简洁，参数不要太多，也不要暴露内部细节，这样别人用起来方便，维护起来也轻松。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总之，写代码的时候，多换位思考：如果一年后我回来看这个代码，还能看懂吗？如果别人接我的代码，能很快上手吗？希望大家都能写出“自解释”的、高可维护性的代码。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大家好，今天我们来聊聊 Python 的性能优化。首先，我想强调一个核心原则：先让代码跑起来，再去优化它。很多新手容易犯的错误就是过早优化，还没让功能正确实现，就开始纠结怎么写得更快，结果写出了一堆复杂难懂的代码，不仅充满 Bug，还难以维护。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记住，正确的慢代码永远比无法运行的“快”代码要好。我们应该遵循科学的优化流程：第一步，确保功能正确；第二步，通过工具（如 cProfile）找到性能瓶颈，因为通常 90% 的时间都花在了 10% 的代码上；第三步，只针对这些瓶颈进行优化。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在具体手段上，我们有很多工具箱：比如用 Numpy 的向量化操作替代低效的 for 循环，能带来百倍的速度提升；优先使用 Python 的内置函数和标准库，因为它们是 C 实现的；优化循环结构，把不变的计算提到循环外面；以及针对不同场景选择合适的并发模型。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最后，请记住，不要为了一点点性能提升牺牲代码的可读性。简洁、易维护的代码才是长久之计。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大家好，今天我们来聊聊编程范式的选择：到底什么时候该用面向对象，什么时候该用函数式？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首先，我们要打破一个误区：不要为了用面向对象而用面向对象。很多新手学了类和对象之后，恨不得把所有东西都封装成类，结果导致代码结构臃肿，反而增加了复杂度。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我们来看三个关键点：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第一，优先使用函数。对于那些无状态的、一次性的工具逻辑，比如简单的数据清洗、数学计算，函数式编程更加轻量、直接，不需要额外的类结构开销。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在必要的时候使用类。这主要包括三种场景：一是当对象需要持有状态时，比如传感器的连接状态；二是当多个方法需要共享一组数据时，比如滤波器的矩阵运算；三是需要利用继承和多态来实现灵活扩展时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第三，警惕过度设计。不要一上来就设计一堆抽象类和接口，简单的项目往往不需要那么复杂的架构。记住YAGNI原则：你不会需要它。过度设计只会让代码变得晦涩难懂。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最后，送给大家一句话：能解决问题的最简单方法，就是最好的方法。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这一页我们来聊聊如何利用AI高效地写Python代码。其实，掌握好提示词的技巧，AI可以成为你最得力的编程助手。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我总结了六个最实用的提示词场景：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精准生成代码：不要只说“帮我写个爬虫”，而是要具体，比如“用Python写一个爬取XX网站新闻标题的函数，要求用requests库，处理反爬机制，返回JSON格式数据，并附带注释和调用示例”。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Debug排查：当代码报错时，不要只发一个截图。要把代码、报错信息、你预期的功能以及你已经尝试过的方法都告诉AI，这样它才能精准定位问题。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代码优化：如果你觉得代码跑得慢或者不好看，可以让AI从可读性、性能和健壮性三个维度帮你优化，并让它解释优化前后的差异。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4. 代码解释：遇到看不懂的开源代码？直接让AI逐行解释，包括每行的作用、参数含义、输入输出以及潜在的注意事项。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5. 自动生成测试：写完代码别忘了测试，让AI用pytest帮你生成单元测试，覆盖正常情况、边界情况和异常情况，这能大大节省你的时间。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6. 代码重构：如果你的代码太臃肿，可以让AI帮你拆分函数、优化结构，让代码更干净、更易维护。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最后，一定要记住：AI是助手，不是替代者。它生成的代码你一定要自己看一遍，理解逻辑，并且运行测试，千万不要直接复制粘贴就用，避免出现安全漏洞或逻辑错误。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大家好，这一页我们来聊聊如何高效地学习Python。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首先，我想强调一个核心观点：编程是一门手艺，不是一门理论课。最快的学习方式永远是“边做边学”，而不是先把所有语法背下来。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我们把学习资源分为三个阶段：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第一是入门夯实，推荐大家看Python的官方教程，它是最准确、最权威的，同时可以去LeetCode刷一些简单的题目，目的不是为了应付面试，而是为了熟悉语法，培养编程的手感。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是进阶与规范，当你有了一定基础后，可以去读《流畅的Python》，这本书能让你理解Python的设计哲学和高级特性。同时，一定要注重代码规范，学习PEP8，并且使用Black这样的工具来自动格式化代码，这是成为专业程序员的必经之路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也是最重要的，就是实战。不要相信那些“7天精通”的噱头。找到一个你感兴趣的小项目，比如写一个爬虫，或者做一个简单的计算器。在做项目的过程中，你会遇到各种问题，这时候带着问题去查资料、去学习，效率是最高的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最后，我建议大家今天就动手，不要等待，从写第一行代码开始。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这一页我们来集中解答一下大家在学习过程中可能遇到的常见问题。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首先，关于Python库的学习，大家完全不必焦虑。Python的生态非常庞大，有几十万的库，你不可能也不需要全部学会。我们只需要遵循“用到什么学什么”的原则，把常用的核心库用熟练就足够了。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关于C++的学习时机，我的建议是先把Python学好，因为它入门快，能让你快速做出东西，获得正反馈。当你未来遇到性能瓶颈，或者需要做一些底层开发的时候，再去学C++也不迟。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如果你觉得自己现在的代码写得很烂，这非常正常，所有的高手都是从菜鸟过来的。关键是多写、多看别人的优秀代码，慢慢你的代码质量就会提升。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Git确实有很多命令，但常用的其实就那几个，用一个星期就记住了。复杂的命令完全不用记，用到的时候查一下就行，或者直接用图形化工具，比如VS Code自带的Git功能就非常好用。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最后，关于调试慢的问题，大家要学会用科学的方法，比如设置断点，而不是瞎猜瞎改。调试能力是程序员的基本功，练得多了，自然就快了。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记住，编程没有捷径，多写多练才是硬道理。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这一页是我们的课后练习环节。大家要记住，编程是一门实践学科，动手写代码是学会它的唯一方法。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我们准备了六个循序渐进的练习：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首先是基础的Git管理，这是现代开发的必备技能。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然后是数据处理和可视化，这是Python非常擅长的领域，同时要注意异常处理。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接下来是单元测试，这是保证代码质量的关键。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4. 调试是排查问题的核心能力，必须掌握。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5. 尝试独立完成一个小项目，这会给你带来巨大的成就感。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6. 最后，要注重代码规范，这是职业素养的体现。</a:t>
            </a: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希望大家认真完成这些练习，不要怕出错，写得多了，自然就熟练了。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7128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883973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Relationship Id="rId14" Type="http://schemas.openxmlformats.org/officeDocument/2006/relationships/image" Target="../media/image30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12" Type="http://schemas.openxmlformats.org/officeDocument/2006/relationships/image" Target="../media/image3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11" Type="http://schemas.openxmlformats.org/officeDocument/2006/relationships/image" Target="../media/image37.png"/><Relationship Id="rId5" Type="http://schemas.openxmlformats.org/officeDocument/2006/relationships/image" Target="../media/image19.png"/><Relationship Id="rId10" Type="http://schemas.openxmlformats.org/officeDocument/2006/relationships/image" Target="../media/image36.svg"/><Relationship Id="rId4" Type="http://schemas.openxmlformats.org/officeDocument/2006/relationships/image" Target="../media/image32.svg"/><Relationship Id="rId9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10" Type="http://schemas.openxmlformats.org/officeDocument/2006/relationships/image" Target="../media/image56.svg"/><Relationship Id="rId4" Type="http://schemas.openxmlformats.org/officeDocument/2006/relationships/image" Target="../media/image50.svg"/><Relationship Id="rId9" Type="http://schemas.openxmlformats.org/officeDocument/2006/relationships/image" Target="../media/image5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svg"/><Relationship Id="rId5" Type="http://schemas.openxmlformats.org/officeDocument/2006/relationships/image" Target="../media/image59.png"/><Relationship Id="rId10" Type="http://schemas.openxmlformats.org/officeDocument/2006/relationships/image" Target="../media/image64.svg"/><Relationship Id="rId4" Type="http://schemas.openxmlformats.org/officeDocument/2006/relationships/image" Target="../media/image58.svg"/><Relationship Id="rId9" Type="http://schemas.openxmlformats.org/officeDocument/2006/relationships/image" Target="../media/image6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sv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0" Type="http://schemas.openxmlformats.org/officeDocument/2006/relationships/image" Target="../media/image72.svg"/><Relationship Id="rId4" Type="http://schemas.openxmlformats.org/officeDocument/2006/relationships/image" Target="../media/image66.svg"/><Relationship Id="rId9" Type="http://schemas.openxmlformats.org/officeDocument/2006/relationships/image" Target="../media/image7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svg"/><Relationship Id="rId13" Type="http://schemas.openxmlformats.org/officeDocument/2006/relationships/image" Target="../media/image85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12" Type="http://schemas.openxmlformats.org/officeDocument/2006/relationships/image" Target="../media/image8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sv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0" Type="http://schemas.openxmlformats.org/officeDocument/2006/relationships/image" Target="../media/image82.svg"/><Relationship Id="rId4" Type="http://schemas.openxmlformats.org/officeDocument/2006/relationships/image" Target="../media/image76.svg"/><Relationship Id="rId9" Type="http://schemas.openxmlformats.org/officeDocument/2006/relationships/image" Target="../media/image81.png"/><Relationship Id="rId14" Type="http://schemas.openxmlformats.org/officeDocument/2006/relationships/image" Target="../media/image86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sv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svg"/><Relationship Id="rId5" Type="http://schemas.openxmlformats.org/officeDocument/2006/relationships/image" Target="../media/image89.png"/><Relationship Id="rId10" Type="http://schemas.openxmlformats.org/officeDocument/2006/relationships/image" Target="../media/image94.svg"/><Relationship Id="rId4" Type="http://schemas.openxmlformats.org/officeDocument/2006/relationships/image" Target="../media/image88.svg"/><Relationship Id="rId9" Type="http://schemas.openxmlformats.org/officeDocument/2006/relationships/image" Target="../media/image9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sv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svg"/><Relationship Id="rId5" Type="http://schemas.openxmlformats.org/officeDocument/2006/relationships/image" Target="../media/image97.png"/><Relationship Id="rId10" Type="http://schemas.openxmlformats.org/officeDocument/2006/relationships/image" Target="../media/image102.svg"/><Relationship Id="rId4" Type="http://schemas.openxmlformats.org/officeDocument/2006/relationships/image" Target="../media/image96.svg"/><Relationship Id="rId9" Type="http://schemas.openxmlformats.org/officeDocument/2006/relationships/image" Target="../media/image10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sv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12" Type="http://schemas.openxmlformats.org/officeDocument/2006/relationships/image" Target="../media/image11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sv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0" Type="http://schemas.openxmlformats.org/officeDocument/2006/relationships/image" Target="../media/image110.svg"/><Relationship Id="rId4" Type="http://schemas.openxmlformats.org/officeDocument/2006/relationships/image" Target="../media/image104.svg"/><Relationship Id="rId9" Type="http://schemas.openxmlformats.org/officeDocument/2006/relationships/image" Target="../media/image10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svg"/><Relationship Id="rId13" Type="http://schemas.openxmlformats.org/officeDocument/2006/relationships/image" Target="../media/image123.pn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12" Type="http://schemas.openxmlformats.org/officeDocument/2006/relationships/image" Target="../media/image122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svg"/><Relationship Id="rId11" Type="http://schemas.openxmlformats.org/officeDocument/2006/relationships/image" Target="../media/image121.png"/><Relationship Id="rId5" Type="http://schemas.openxmlformats.org/officeDocument/2006/relationships/image" Target="../media/image115.png"/><Relationship Id="rId10" Type="http://schemas.openxmlformats.org/officeDocument/2006/relationships/image" Target="../media/image120.svg"/><Relationship Id="rId4" Type="http://schemas.openxmlformats.org/officeDocument/2006/relationships/image" Target="../media/image114.svg"/><Relationship Id="rId9" Type="http://schemas.openxmlformats.org/officeDocument/2006/relationships/image" Target="../media/image119.png"/><Relationship Id="rId14" Type="http://schemas.openxmlformats.org/officeDocument/2006/relationships/image" Target="../media/image124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svg"/><Relationship Id="rId13" Type="http://schemas.openxmlformats.org/officeDocument/2006/relationships/image" Target="../media/image133.png"/><Relationship Id="rId3" Type="http://schemas.openxmlformats.org/officeDocument/2006/relationships/image" Target="../media/image125.png"/><Relationship Id="rId7" Type="http://schemas.openxmlformats.org/officeDocument/2006/relationships/image" Target="../media/image127.png"/><Relationship Id="rId12" Type="http://schemas.openxmlformats.org/officeDocument/2006/relationships/image" Target="../media/image13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svg"/><Relationship Id="rId11" Type="http://schemas.openxmlformats.org/officeDocument/2006/relationships/image" Target="../media/image131.png"/><Relationship Id="rId5" Type="http://schemas.openxmlformats.org/officeDocument/2006/relationships/image" Target="../media/image45.png"/><Relationship Id="rId10" Type="http://schemas.openxmlformats.org/officeDocument/2006/relationships/image" Target="../media/image130.svg"/><Relationship Id="rId4" Type="http://schemas.openxmlformats.org/officeDocument/2006/relationships/image" Target="../media/image126.svg"/><Relationship Id="rId9" Type="http://schemas.openxmlformats.org/officeDocument/2006/relationships/image" Target="../media/image129.png"/><Relationship Id="rId14" Type="http://schemas.openxmlformats.org/officeDocument/2006/relationships/image" Target="../media/image134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sv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12" Type="http://schemas.openxmlformats.org/officeDocument/2006/relationships/image" Target="../media/image144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8.svg"/><Relationship Id="rId11" Type="http://schemas.openxmlformats.org/officeDocument/2006/relationships/image" Target="../media/image143.png"/><Relationship Id="rId5" Type="http://schemas.openxmlformats.org/officeDocument/2006/relationships/image" Target="../media/image137.png"/><Relationship Id="rId10" Type="http://schemas.openxmlformats.org/officeDocument/2006/relationships/image" Target="../media/image142.svg"/><Relationship Id="rId4" Type="http://schemas.openxmlformats.org/officeDocument/2006/relationships/image" Target="../media/image136.svg"/><Relationship Id="rId9" Type="http://schemas.openxmlformats.org/officeDocument/2006/relationships/image" Target="../media/image14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svg"/><Relationship Id="rId3" Type="http://schemas.openxmlformats.org/officeDocument/2006/relationships/image" Target="../media/image145.png"/><Relationship Id="rId7" Type="http://schemas.openxmlformats.org/officeDocument/2006/relationships/image" Target="../media/image149.png"/><Relationship Id="rId12" Type="http://schemas.openxmlformats.org/officeDocument/2006/relationships/image" Target="../media/image154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8.svg"/><Relationship Id="rId11" Type="http://schemas.openxmlformats.org/officeDocument/2006/relationships/image" Target="../media/image153.png"/><Relationship Id="rId5" Type="http://schemas.openxmlformats.org/officeDocument/2006/relationships/image" Target="../media/image147.png"/><Relationship Id="rId10" Type="http://schemas.openxmlformats.org/officeDocument/2006/relationships/image" Target="../media/image152.svg"/><Relationship Id="rId4" Type="http://schemas.openxmlformats.org/officeDocument/2006/relationships/image" Target="../media/image146.svg"/><Relationship Id="rId9" Type="http://schemas.openxmlformats.org/officeDocument/2006/relationships/image" Target="../media/image15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svg"/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12" Type="http://schemas.openxmlformats.org/officeDocument/2006/relationships/image" Target="../media/image164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8.svg"/><Relationship Id="rId11" Type="http://schemas.openxmlformats.org/officeDocument/2006/relationships/image" Target="../media/image163.png"/><Relationship Id="rId5" Type="http://schemas.openxmlformats.org/officeDocument/2006/relationships/image" Target="../media/image157.png"/><Relationship Id="rId10" Type="http://schemas.openxmlformats.org/officeDocument/2006/relationships/image" Target="../media/image162.svg"/><Relationship Id="rId4" Type="http://schemas.openxmlformats.org/officeDocument/2006/relationships/image" Target="../media/image156.svg"/><Relationship Id="rId9" Type="http://schemas.openxmlformats.org/officeDocument/2006/relationships/image" Target="../media/image16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svg"/><Relationship Id="rId13" Type="http://schemas.openxmlformats.org/officeDocument/2006/relationships/image" Target="../media/image175.png"/><Relationship Id="rId18" Type="http://schemas.openxmlformats.org/officeDocument/2006/relationships/image" Target="../media/image180.svg"/><Relationship Id="rId26" Type="http://schemas.openxmlformats.org/officeDocument/2006/relationships/image" Target="../media/image186.svg"/><Relationship Id="rId3" Type="http://schemas.openxmlformats.org/officeDocument/2006/relationships/image" Target="../media/image165.png"/><Relationship Id="rId21" Type="http://schemas.openxmlformats.org/officeDocument/2006/relationships/image" Target="../media/image75.png"/><Relationship Id="rId7" Type="http://schemas.openxmlformats.org/officeDocument/2006/relationships/image" Target="../media/image169.png"/><Relationship Id="rId12" Type="http://schemas.openxmlformats.org/officeDocument/2006/relationships/image" Target="../media/image174.svg"/><Relationship Id="rId17" Type="http://schemas.openxmlformats.org/officeDocument/2006/relationships/image" Target="../media/image179.png"/><Relationship Id="rId25" Type="http://schemas.openxmlformats.org/officeDocument/2006/relationships/image" Target="../media/image185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78.svg"/><Relationship Id="rId20" Type="http://schemas.openxmlformats.org/officeDocument/2006/relationships/image" Target="../media/image18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8.svg"/><Relationship Id="rId11" Type="http://schemas.openxmlformats.org/officeDocument/2006/relationships/image" Target="../media/image173.png"/><Relationship Id="rId24" Type="http://schemas.openxmlformats.org/officeDocument/2006/relationships/image" Target="../media/image184.svg"/><Relationship Id="rId5" Type="http://schemas.openxmlformats.org/officeDocument/2006/relationships/image" Target="../media/image167.png"/><Relationship Id="rId15" Type="http://schemas.openxmlformats.org/officeDocument/2006/relationships/image" Target="../media/image177.png"/><Relationship Id="rId23" Type="http://schemas.openxmlformats.org/officeDocument/2006/relationships/image" Target="../media/image183.png"/><Relationship Id="rId10" Type="http://schemas.openxmlformats.org/officeDocument/2006/relationships/image" Target="../media/image172.svg"/><Relationship Id="rId19" Type="http://schemas.openxmlformats.org/officeDocument/2006/relationships/image" Target="../media/image181.png"/><Relationship Id="rId4" Type="http://schemas.openxmlformats.org/officeDocument/2006/relationships/image" Target="../media/image166.svg"/><Relationship Id="rId9" Type="http://schemas.openxmlformats.org/officeDocument/2006/relationships/image" Target="../media/image171.png"/><Relationship Id="rId14" Type="http://schemas.openxmlformats.org/officeDocument/2006/relationships/image" Target="../media/image176.svg"/><Relationship Id="rId22" Type="http://schemas.openxmlformats.org/officeDocument/2006/relationships/image" Target="../media/image76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195.png"/><Relationship Id="rId3" Type="http://schemas.openxmlformats.org/officeDocument/2006/relationships/image" Target="../media/image187.png"/><Relationship Id="rId7" Type="http://schemas.openxmlformats.org/officeDocument/2006/relationships/image" Target="../media/image41.png"/><Relationship Id="rId12" Type="http://schemas.openxmlformats.org/officeDocument/2006/relationships/image" Target="../media/image194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0.svg"/><Relationship Id="rId11" Type="http://schemas.openxmlformats.org/officeDocument/2006/relationships/image" Target="../media/image193.png"/><Relationship Id="rId5" Type="http://schemas.openxmlformats.org/officeDocument/2006/relationships/image" Target="../media/image189.png"/><Relationship Id="rId10" Type="http://schemas.openxmlformats.org/officeDocument/2006/relationships/image" Target="../media/image192.svg"/><Relationship Id="rId4" Type="http://schemas.openxmlformats.org/officeDocument/2006/relationships/image" Target="../media/image188.svg"/><Relationship Id="rId9" Type="http://schemas.openxmlformats.org/officeDocument/2006/relationships/image" Target="../media/image191.png"/><Relationship Id="rId14" Type="http://schemas.openxmlformats.org/officeDocument/2006/relationships/image" Target="../media/image196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9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0.svg"/><Relationship Id="rId5" Type="http://schemas.openxmlformats.org/officeDocument/2006/relationships/image" Target="../media/image199.png"/><Relationship Id="rId10" Type="http://schemas.openxmlformats.org/officeDocument/2006/relationships/image" Target="../media/image202.svg"/><Relationship Id="rId4" Type="http://schemas.openxmlformats.org/officeDocument/2006/relationships/image" Target="../media/image198.svg"/><Relationship Id="rId9" Type="http://schemas.openxmlformats.org/officeDocument/2006/relationships/image" Target="../media/image20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svg"/><Relationship Id="rId3" Type="http://schemas.openxmlformats.org/officeDocument/2006/relationships/image" Target="../media/image203.png"/><Relationship Id="rId7" Type="http://schemas.openxmlformats.org/officeDocument/2006/relationships/image" Target="../media/image207.png"/><Relationship Id="rId12" Type="http://schemas.openxmlformats.org/officeDocument/2006/relationships/image" Target="../media/image212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6.svg"/><Relationship Id="rId11" Type="http://schemas.openxmlformats.org/officeDocument/2006/relationships/image" Target="../media/image211.png"/><Relationship Id="rId5" Type="http://schemas.openxmlformats.org/officeDocument/2006/relationships/image" Target="../media/image205.png"/><Relationship Id="rId10" Type="http://schemas.openxmlformats.org/officeDocument/2006/relationships/image" Target="../media/image210.svg"/><Relationship Id="rId4" Type="http://schemas.openxmlformats.org/officeDocument/2006/relationships/image" Target="../media/image204.svg"/><Relationship Id="rId9" Type="http://schemas.openxmlformats.org/officeDocument/2006/relationships/image" Target="../media/image20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svg"/><Relationship Id="rId13" Type="http://schemas.openxmlformats.org/officeDocument/2006/relationships/image" Target="../media/image221.png"/><Relationship Id="rId3" Type="http://schemas.openxmlformats.org/officeDocument/2006/relationships/image" Target="../media/image213.png"/><Relationship Id="rId7" Type="http://schemas.openxmlformats.org/officeDocument/2006/relationships/image" Target="../media/image215.png"/><Relationship Id="rId12" Type="http://schemas.openxmlformats.org/officeDocument/2006/relationships/image" Target="../media/image220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svg"/><Relationship Id="rId11" Type="http://schemas.openxmlformats.org/officeDocument/2006/relationships/image" Target="../media/image219.png"/><Relationship Id="rId5" Type="http://schemas.openxmlformats.org/officeDocument/2006/relationships/image" Target="../media/image77.png"/><Relationship Id="rId10" Type="http://schemas.openxmlformats.org/officeDocument/2006/relationships/image" Target="../media/image218.svg"/><Relationship Id="rId4" Type="http://schemas.openxmlformats.org/officeDocument/2006/relationships/image" Target="../media/image214.svg"/><Relationship Id="rId9" Type="http://schemas.openxmlformats.org/officeDocument/2006/relationships/image" Target="../media/image217.png"/><Relationship Id="rId14" Type="http://schemas.openxmlformats.org/officeDocument/2006/relationships/image" Target="../media/image222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svg"/><Relationship Id="rId13" Type="http://schemas.openxmlformats.org/officeDocument/2006/relationships/image" Target="../media/image233.png"/><Relationship Id="rId3" Type="http://schemas.openxmlformats.org/officeDocument/2006/relationships/image" Target="../media/image223.png"/><Relationship Id="rId7" Type="http://schemas.openxmlformats.org/officeDocument/2006/relationships/image" Target="../media/image227.png"/><Relationship Id="rId12" Type="http://schemas.openxmlformats.org/officeDocument/2006/relationships/image" Target="../media/image232.sv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23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6.svg"/><Relationship Id="rId11" Type="http://schemas.openxmlformats.org/officeDocument/2006/relationships/image" Target="../media/image231.png"/><Relationship Id="rId5" Type="http://schemas.openxmlformats.org/officeDocument/2006/relationships/image" Target="../media/image225.png"/><Relationship Id="rId15" Type="http://schemas.openxmlformats.org/officeDocument/2006/relationships/image" Target="../media/image235.png"/><Relationship Id="rId10" Type="http://schemas.openxmlformats.org/officeDocument/2006/relationships/image" Target="../media/image230.svg"/><Relationship Id="rId4" Type="http://schemas.openxmlformats.org/officeDocument/2006/relationships/image" Target="../media/image224.svg"/><Relationship Id="rId9" Type="http://schemas.openxmlformats.org/officeDocument/2006/relationships/image" Target="../media/image229.png"/><Relationship Id="rId14" Type="http://schemas.openxmlformats.org/officeDocument/2006/relationships/image" Target="../media/image234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svg"/><Relationship Id="rId13" Type="http://schemas.openxmlformats.org/officeDocument/2006/relationships/image" Target="../media/image247.png"/><Relationship Id="rId3" Type="http://schemas.openxmlformats.org/officeDocument/2006/relationships/image" Target="../media/image237.png"/><Relationship Id="rId7" Type="http://schemas.openxmlformats.org/officeDocument/2006/relationships/image" Target="../media/image241.png"/><Relationship Id="rId12" Type="http://schemas.openxmlformats.org/officeDocument/2006/relationships/image" Target="../media/image246.sv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25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0.svg"/><Relationship Id="rId11" Type="http://schemas.openxmlformats.org/officeDocument/2006/relationships/image" Target="../media/image245.png"/><Relationship Id="rId5" Type="http://schemas.openxmlformats.org/officeDocument/2006/relationships/image" Target="../media/image239.png"/><Relationship Id="rId15" Type="http://schemas.openxmlformats.org/officeDocument/2006/relationships/image" Target="../media/image249.png"/><Relationship Id="rId10" Type="http://schemas.openxmlformats.org/officeDocument/2006/relationships/image" Target="../media/image244.svg"/><Relationship Id="rId4" Type="http://schemas.openxmlformats.org/officeDocument/2006/relationships/image" Target="../media/image238.svg"/><Relationship Id="rId9" Type="http://schemas.openxmlformats.org/officeDocument/2006/relationships/image" Target="../media/image243.png"/><Relationship Id="rId14" Type="http://schemas.openxmlformats.org/officeDocument/2006/relationships/image" Target="../media/image248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svg"/><Relationship Id="rId13" Type="http://schemas.openxmlformats.org/officeDocument/2006/relationships/image" Target="../media/image161.png"/><Relationship Id="rId3" Type="http://schemas.openxmlformats.org/officeDocument/2006/relationships/image" Target="../media/image251.png"/><Relationship Id="rId7" Type="http://schemas.openxmlformats.org/officeDocument/2006/relationships/image" Target="../media/image255.png"/><Relationship Id="rId12" Type="http://schemas.openxmlformats.org/officeDocument/2006/relationships/image" Target="../media/image260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4.svg"/><Relationship Id="rId11" Type="http://schemas.openxmlformats.org/officeDocument/2006/relationships/image" Target="../media/image259.png"/><Relationship Id="rId5" Type="http://schemas.openxmlformats.org/officeDocument/2006/relationships/image" Target="../media/image253.png"/><Relationship Id="rId10" Type="http://schemas.openxmlformats.org/officeDocument/2006/relationships/image" Target="../media/image258.svg"/><Relationship Id="rId4" Type="http://schemas.openxmlformats.org/officeDocument/2006/relationships/image" Target="../media/image252.svg"/><Relationship Id="rId9" Type="http://schemas.openxmlformats.org/officeDocument/2006/relationships/image" Target="../media/image257.png"/><Relationship Id="rId14" Type="http://schemas.openxmlformats.org/officeDocument/2006/relationships/image" Target="../media/image162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svg"/><Relationship Id="rId3" Type="http://schemas.openxmlformats.org/officeDocument/2006/relationships/image" Target="../media/image261.png"/><Relationship Id="rId7" Type="http://schemas.openxmlformats.org/officeDocument/2006/relationships/image" Target="../media/image26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4.svg"/><Relationship Id="rId5" Type="http://schemas.openxmlformats.org/officeDocument/2006/relationships/image" Target="../media/image263.png"/><Relationship Id="rId10" Type="http://schemas.openxmlformats.org/officeDocument/2006/relationships/image" Target="../media/image268.svg"/><Relationship Id="rId4" Type="http://schemas.openxmlformats.org/officeDocument/2006/relationships/image" Target="../media/image262.svg"/><Relationship Id="rId9" Type="http://schemas.openxmlformats.org/officeDocument/2006/relationships/image" Target="../media/image26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svg"/><Relationship Id="rId3" Type="http://schemas.openxmlformats.org/officeDocument/2006/relationships/image" Target="../media/image269.png"/><Relationship Id="rId7" Type="http://schemas.openxmlformats.org/officeDocument/2006/relationships/image" Target="../media/image273.png"/><Relationship Id="rId12" Type="http://schemas.openxmlformats.org/officeDocument/2006/relationships/image" Target="../media/image276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2.svg"/><Relationship Id="rId11" Type="http://schemas.openxmlformats.org/officeDocument/2006/relationships/image" Target="../media/image275.png"/><Relationship Id="rId5" Type="http://schemas.openxmlformats.org/officeDocument/2006/relationships/image" Target="../media/image271.png"/><Relationship Id="rId10" Type="http://schemas.openxmlformats.org/officeDocument/2006/relationships/image" Target="../media/image70.svg"/><Relationship Id="rId4" Type="http://schemas.openxmlformats.org/officeDocument/2006/relationships/image" Target="../media/image270.svg"/><Relationship Id="rId9" Type="http://schemas.openxmlformats.org/officeDocument/2006/relationships/image" Target="../media/image6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svg"/><Relationship Id="rId13" Type="http://schemas.openxmlformats.org/officeDocument/2006/relationships/image" Target="../media/image93.png"/><Relationship Id="rId3" Type="http://schemas.openxmlformats.org/officeDocument/2006/relationships/image" Target="../media/image277.png"/><Relationship Id="rId7" Type="http://schemas.openxmlformats.org/officeDocument/2006/relationships/image" Target="../media/image97.png"/><Relationship Id="rId12" Type="http://schemas.openxmlformats.org/officeDocument/2006/relationships/image" Target="../media/image282.sv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28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0.svg"/><Relationship Id="rId11" Type="http://schemas.openxmlformats.org/officeDocument/2006/relationships/image" Target="../media/image281.png"/><Relationship Id="rId5" Type="http://schemas.openxmlformats.org/officeDocument/2006/relationships/image" Target="../media/image279.png"/><Relationship Id="rId15" Type="http://schemas.openxmlformats.org/officeDocument/2006/relationships/image" Target="../media/image283.png"/><Relationship Id="rId10" Type="http://schemas.openxmlformats.org/officeDocument/2006/relationships/image" Target="../media/image254.svg"/><Relationship Id="rId4" Type="http://schemas.openxmlformats.org/officeDocument/2006/relationships/image" Target="../media/image278.svg"/><Relationship Id="rId9" Type="http://schemas.openxmlformats.org/officeDocument/2006/relationships/image" Target="../media/image253.png"/><Relationship Id="rId14" Type="http://schemas.openxmlformats.org/officeDocument/2006/relationships/image" Target="../media/image94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svg"/><Relationship Id="rId13" Type="http://schemas.openxmlformats.org/officeDocument/2006/relationships/image" Target="../media/image293.png"/><Relationship Id="rId3" Type="http://schemas.openxmlformats.org/officeDocument/2006/relationships/image" Target="../media/image285.png"/><Relationship Id="rId7" Type="http://schemas.openxmlformats.org/officeDocument/2006/relationships/image" Target="../media/image287.png"/><Relationship Id="rId12" Type="http://schemas.openxmlformats.org/officeDocument/2006/relationships/image" Target="../media/image292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svg"/><Relationship Id="rId11" Type="http://schemas.openxmlformats.org/officeDocument/2006/relationships/image" Target="../media/image291.png"/><Relationship Id="rId5" Type="http://schemas.openxmlformats.org/officeDocument/2006/relationships/image" Target="../media/image69.png"/><Relationship Id="rId10" Type="http://schemas.openxmlformats.org/officeDocument/2006/relationships/image" Target="../media/image290.svg"/><Relationship Id="rId4" Type="http://schemas.openxmlformats.org/officeDocument/2006/relationships/image" Target="../media/image286.svg"/><Relationship Id="rId9" Type="http://schemas.openxmlformats.org/officeDocument/2006/relationships/image" Target="../media/image289.png"/><Relationship Id="rId14" Type="http://schemas.openxmlformats.org/officeDocument/2006/relationships/image" Target="../media/image294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svg"/><Relationship Id="rId13" Type="http://schemas.openxmlformats.org/officeDocument/2006/relationships/image" Target="../media/image205.png"/><Relationship Id="rId18" Type="http://schemas.openxmlformats.org/officeDocument/2006/relationships/image" Target="../media/image304.svg"/><Relationship Id="rId3" Type="http://schemas.openxmlformats.org/officeDocument/2006/relationships/image" Target="../media/image295.png"/><Relationship Id="rId21" Type="http://schemas.openxmlformats.org/officeDocument/2006/relationships/image" Target="../media/image307.png"/><Relationship Id="rId7" Type="http://schemas.openxmlformats.org/officeDocument/2006/relationships/image" Target="../media/image75.png"/><Relationship Id="rId12" Type="http://schemas.openxmlformats.org/officeDocument/2006/relationships/image" Target="../media/image300.svg"/><Relationship Id="rId17" Type="http://schemas.openxmlformats.org/officeDocument/2006/relationships/image" Target="../media/image303.pn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302.svg"/><Relationship Id="rId20" Type="http://schemas.openxmlformats.org/officeDocument/2006/relationships/image" Target="../media/image30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svg"/><Relationship Id="rId11" Type="http://schemas.openxmlformats.org/officeDocument/2006/relationships/image" Target="../media/image299.png"/><Relationship Id="rId5" Type="http://schemas.openxmlformats.org/officeDocument/2006/relationships/image" Target="../media/image69.png"/><Relationship Id="rId15" Type="http://schemas.openxmlformats.org/officeDocument/2006/relationships/image" Target="../media/image301.png"/><Relationship Id="rId10" Type="http://schemas.openxmlformats.org/officeDocument/2006/relationships/image" Target="../media/image298.svg"/><Relationship Id="rId19" Type="http://schemas.openxmlformats.org/officeDocument/2006/relationships/image" Target="../media/image305.png"/><Relationship Id="rId4" Type="http://schemas.openxmlformats.org/officeDocument/2006/relationships/image" Target="../media/image296.svg"/><Relationship Id="rId9" Type="http://schemas.openxmlformats.org/officeDocument/2006/relationships/image" Target="../media/image297.png"/><Relationship Id="rId14" Type="http://schemas.openxmlformats.org/officeDocument/2006/relationships/image" Target="../media/image206.svg"/><Relationship Id="rId22" Type="http://schemas.openxmlformats.org/officeDocument/2006/relationships/image" Target="../media/image308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2.svg"/><Relationship Id="rId13" Type="http://schemas.openxmlformats.org/officeDocument/2006/relationships/image" Target="../media/image317.png"/><Relationship Id="rId3" Type="http://schemas.openxmlformats.org/officeDocument/2006/relationships/image" Target="../media/image87.png"/><Relationship Id="rId7" Type="http://schemas.openxmlformats.org/officeDocument/2006/relationships/image" Target="../media/image311.png"/><Relationship Id="rId12" Type="http://schemas.openxmlformats.org/officeDocument/2006/relationships/image" Target="../media/image316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0.svg"/><Relationship Id="rId11" Type="http://schemas.openxmlformats.org/officeDocument/2006/relationships/image" Target="../media/image315.png"/><Relationship Id="rId5" Type="http://schemas.openxmlformats.org/officeDocument/2006/relationships/image" Target="../media/image309.png"/><Relationship Id="rId10" Type="http://schemas.openxmlformats.org/officeDocument/2006/relationships/image" Target="../media/image314.svg"/><Relationship Id="rId4" Type="http://schemas.openxmlformats.org/officeDocument/2006/relationships/image" Target="../media/image88.svg"/><Relationship Id="rId9" Type="http://schemas.openxmlformats.org/officeDocument/2006/relationships/image" Target="../media/image313.png"/><Relationship Id="rId14" Type="http://schemas.openxmlformats.org/officeDocument/2006/relationships/image" Target="../media/image318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svg"/><Relationship Id="rId13" Type="http://schemas.openxmlformats.org/officeDocument/2006/relationships/image" Target="../media/image327.png"/><Relationship Id="rId3" Type="http://schemas.openxmlformats.org/officeDocument/2006/relationships/image" Target="../media/image319.png"/><Relationship Id="rId7" Type="http://schemas.openxmlformats.org/officeDocument/2006/relationships/image" Target="../media/image323.png"/><Relationship Id="rId12" Type="http://schemas.openxmlformats.org/officeDocument/2006/relationships/image" Target="../media/image76.sv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24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2.svg"/><Relationship Id="rId11" Type="http://schemas.openxmlformats.org/officeDocument/2006/relationships/image" Target="../media/image75.png"/><Relationship Id="rId5" Type="http://schemas.openxmlformats.org/officeDocument/2006/relationships/image" Target="../media/image321.png"/><Relationship Id="rId15" Type="http://schemas.openxmlformats.org/officeDocument/2006/relationships/image" Target="../media/image243.png"/><Relationship Id="rId10" Type="http://schemas.openxmlformats.org/officeDocument/2006/relationships/image" Target="../media/image326.svg"/><Relationship Id="rId4" Type="http://schemas.openxmlformats.org/officeDocument/2006/relationships/image" Target="../media/image320.svg"/><Relationship Id="rId9" Type="http://schemas.openxmlformats.org/officeDocument/2006/relationships/image" Target="../media/image325.png"/><Relationship Id="rId14" Type="http://schemas.openxmlformats.org/officeDocument/2006/relationships/image" Target="../media/image328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6.svg"/><Relationship Id="rId3" Type="http://schemas.openxmlformats.org/officeDocument/2006/relationships/image" Target="../media/image329.png"/><Relationship Id="rId7" Type="http://schemas.openxmlformats.org/officeDocument/2006/relationships/image" Target="../media/image29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2.svg"/><Relationship Id="rId5" Type="http://schemas.openxmlformats.org/officeDocument/2006/relationships/image" Target="../media/image331.png"/><Relationship Id="rId4" Type="http://schemas.openxmlformats.org/officeDocument/2006/relationships/image" Target="../media/image330.sv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svg"/><Relationship Id="rId13" Type="http://schemas.openxmlformats.org/officeDocument/2006/relationships/image" Target="../media/image339.png"/><Relationship Id="rId3" Type="http://schemas.openxmlformats.org/officeDocument/2006/relationships/image" Target="../media/image203.png"/><Relationship Id="rId7" Type="http://schemas.openxmlformats.org/officeDocument/2006/relationships/image" Target="../media/image335.png"/><Relationship Id="rId12" Type="http://schemas.openxmlformats.org/officeDocument/2006/relationships/image" Target="../media/image338.svg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34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4.svg"/><Relationship Id="rId11" Type="http://schemas.openxmlformats.org/officeDocument/2006/relationships/image" Target="../media/image337.png"/><Relationship Id="rId5" Type="http://schemas.openxmlformats.org/officeDocument/2006/relationships/image" Target="../media/image333.png"/><Relationship Id="rId15" Type="http://schemas.openxmlformats.org/officeDocument/2006/relationships/image" Target="../media/image341.png"/><Relationship Id="rId10" Type="http://schemas.openxmlformats.org/officeDocument/2006/relationships/image" Target="../media/image310.svg"/><Relationship Id="rId4" Type="http://schemas.openxmlformats.org/officeDocument/2006/relationships/image" Target="../media/image204.svg"/><Relationship Id="rId9" Type="http://schemas.openxmlformats.org/officeDocument/2006/relationships/image" Target="../media/image309.png"/><Relationship Id="rId14" Type="http://schemas.openxmlformats.org/officeDocument/2006/relationships/image" Target="../media/image340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8.svg"/><Relationship Id="rId3" Type="http://schemas.openxmlformats.org/officeDocument/2006/relationships/image" Target="../media/image343.png"/><Relationship Id="rId7" Type="http://schemas.openxmlformats.org/officeDocument/2006/relationships/image" Target="../media/image34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6.svg"/><Relationship Id="rId5" Type="http://schemas.openxmlformats.org/officeDocument/2006/relationships/image" Target="../media/image345.png"/><Relationship Id="rId4" Type="http://schemas.openxmlformats.org/officeDocument/2006/relationships/image" Target="../media/image344.sv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349.png"/><Relationship Id="rId7" Type="http://schemas.openxmlformats.org/officeDocument/2006/relationships/image" Target="../media/image51.png"/><Relationship Id="rId12" Type="http://schemas.openxmlformats.org/officeDocument/2006/relationships/image" Target="../media/image354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2.svg"/><Relationship Id="rId11" Type="http://schemas.openxmlformats.org/officeDocument/2006/relationships/image" Target="../media/image353.png"/><Relationship Id="rId5" Type="http://schemas.openxmlformats.org/officeDocument/2006/relationships/image" Target="../media/image351.png"/><Relationship Id="rId10" Type="http://schemas.openxmlformats.org/officeDocument/2006/relationships/image" Target="../media/image316.svg"/><Relationship Id="rId4" Type="http://schemas.openxmlformats.org/officeDocument/2006/relationships/image" Target="../media/image350.svg"/><Relationship Id="rId9" Type="http://schemas.openxmlformats.org/officeDocument/2006/relationships/image" Target="../media/image315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4.svg"/><Relationship Id="rId13" Type="http://schemas.openxmlformats.org/officeDocument/2006/relationships/image" Target="../media/image363.png"/><Relationship Id="rId3" Type="http://schemas.openxmlformats.org/officeDocument/2006/relationships/image" Target="../media/image355.png"/><Relationship Id="rId7" Type="http://schemas.openxmlformats.org/officeDocument/2006/relationships/image" Target="../media/image283.png"/><Relationship Id="rId12" Type="http://schemas.openxmlformats.org/officeDocument/2006/relationships/image" Target="../media/image362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8.svg"/><Relationship Id="rId11" Type="http://schemas.openxmlformats.org/officeDocument/2006/relationships/image" Target="../media/image361.png"/><Relationship Id="rId5" Type="http://schemas.openxmlformats.org/officeDocument/2006/relationships/image" Target="../media/image357.png"/><Relationship Id="rId10" Type="http://schemas.openxmlformats.org/officeDocument/2006/relationships/image" Target="../media/image360.svg"/><Relationship Id="rId4" Type="http://schemas.openxmlformats.org/officeDocument/2006/relationships/image" Target="../media/image356.svg"/><Relationship Id="rId9" Type="http://schemas.openxmlformats.org/officeDocument/2006/relationships/image" Target="../media/image359.png"/><Relationship Id="rId14" Type="http://schemas.openxmlformats.org/officeDocument/2006/relationships/image" Target="../media/image36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81C3A">
                <a:alpha val="100000"/>
              </a:srgbClr>
            </a:gs>
            <a:gs pos="100000">
              <a:srgbClr val="0F2D55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016000" y="4445000"/>
            <a:ext cx="3175000" cy="3175000"/>
          </a:xfrm>
          <a:prstGeom prst="ellipse">
            <a:avLst/>
          </a:prstGeom>
          <a:solidFill>
            <a:srgbClr val="0EA5E9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762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Part 01 </a:t>
            </a:r>
            <a:r>
              <a:rPr kumimoji="0" lang="en-US" sz="44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计算机基础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2286000"/>
            <a:ext cx="2603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2540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19200" y="25654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E0F7F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Linux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E0F7F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核心系统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98500" y="3175000"/>
            <a:ext cx="222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2E8F0">
                    <a:alpha val="80000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深入开源系统内核架构，掌握文件权限管理、进程控制与系统服务配置，理解服务器端的运行环境。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365500" y="2286000"/>
            <a:ext cx="2603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19500" y="2540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076700" y="25654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E0F7F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Shell </a:t>
            </a:r>
            <a:r>
              <a:rPr kumimoji="0" lang="en-US" sz="1800" b="1" i="0" u="none" strike="noStrike" kern="0" cap="none" spc="0" normalizeH="0" baseline="0" noProof="0" dirty="0" err="1">
                <a:ln>
                  <a:noFill/>
                </a:ln>
                <a:solidFill>
                  <a:srgbClr val="E0F7F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命令交互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556000" y="3175000"/>
            <a:ext cx="222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2E8F0">
                    <a:alpha val="80000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掌握高效的终端操作指令，编写自动化Shell脚本，实现对系统的批量管理与任务自动化处理。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2286000"/>
            <a:ext cx="2603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2540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34200" y="25654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E0F7F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计算机网络协议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413500" y="3175000"/>
            <a:ext cx="222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2E8F0">
                    <a:alpha val="80000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解析TCP/IP协议栈模型，理解HTTP/HTTPS通信原理，掌握网络层路由与传输层数据交互机制。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9080500" y="2286000"/>
            <a:ext cx="2603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7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34500" y="2540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791700" y="2565400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E0F7F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操作系统原理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9271000" y="3175000"/>
            <a:ext cx="2222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2E8F0">
                    <a:alpha val="80000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探究进程调度算法、内存分页管理、I/O设备控制等核心机制，建立对程序运行底层环境的认知。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21" name="Connector 21"/>
          <p:cNvCxnSpPr/>
          <p:nvPr/>
        </p:nvCxnSpPr>
        <p:spPr>
          <a:xfrm rot="-4297">
            <a:off x="1016004" y="5200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381000" y="55245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📚 | </a:t>
            </a: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打好计算机基础，是打通技术任督二脉的关键，让后续的编程与运维学习事半功倍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55000" y="-1270000"/>
            <a:ext cx="5080000" cy="5080000"/>
          </a:xfrm>
          <a:prstGeom prst="ellipse">
            <a:avLst/>
          </a:prstGeom>
          <a:solidFill>
            <a:srgbClr val="38BDF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4445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为什么机器人/AI工程师一定要学Linux？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270000"/>
            <a:ext cx="11176000" cy="812800"/>
          </a:xfrm>
          <a:prstGeom prst="roundRect">
            <a:avLst>
              <a:gd name="adj" fmla="val 0"/>
            </a:avLst>
          </a:prstGeom>
          <a:solidFill>
            <a:srgbClr val="38BDF8">
              <a:alpha val="12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98500" y="14224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BAE6FD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核心结论：Linux 是机器人与人工智能领域的「事实标准操作系统」，是从算法开发、模型训练到硬件部署全流程中绕不开的技术基石。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286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8BDF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2476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2476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E0F2FE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 开发领域的绝对基石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98500" y="2921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CBD5E1">
                    <a:alpha val="9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ROS2 仅原生支持 Linux，PyTorch/TensorFlow 等主流框架及大模型推理服务器均以此为核心载体，是底层开发的唯一选择。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318000" y="2286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8500" y="2476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953000" y="2476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D1FAE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 命令行的效率碾压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508500" y="2921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CBD5E1">
                    <a:alpha val="9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几行命令即可完成批量数据处理、远程服务器运维、集群训练任务分发，效率远超图形界面的点击操作。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128000" y="2286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BBF2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18500" y="2476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763000" y="2476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EF3C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 开源生态的优先阵地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318500" y="2921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CBD5E1">
                    <a:alpha val="9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全球 90%+ 的开源工具与算法库优先适配 Linux，拥有最活跃的社区支持，遇到的兼容性问题最少，更新迭代最快。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08000" y="4191000"/>
            <a:ext cx="5461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A78BF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500" y="4381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143000" y="43815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DDD6FE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 工业级的极致稳定与高并发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98500" y="4826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CBD5E1">
                    <a:alpha val="9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专为服务器场景设计，可实现数月甚至数年无重启运行。对于需要实时响应的机器人控制和7x24小时在线的AI服务，稳定性是第一刚需。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223000" y="4191000"/>
            <a:ext cx="5461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472B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3500" y="43815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858000" y="43815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CE7F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05 岗位招聘的硬性筛选门槛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413500" y="4826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CBD5E1">
                    <a:alpha val="90196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无论是算法工程师、机器人开发岗还是嵌入式开发，Linux基础与Shell脚本能力都是面试必考点，也是入职后进行环境配置和部署的必备技能。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508000" y="5842000"/>
            <a:ext cx="11176000" cy="635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98500" y="5943600"/>
            <a:ext cx="1092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BBF2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🚀 入门并不难：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常用核心命令仅 50+ 个，高频使用的仅 20 余个，结合实际开发场景实操，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34D39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一周即可完成入门，一月即可熟练运用。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A202C">
                <a:alpha val="100000"/>
              </a:srgbClr>
            </a:gs>
            <a:gs pos="100000">
              <a:srgbClr val="2D3748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0" y="-1270000"/>
            <a:ext cx="5080000" cy="5080000"/>
          </a:xfrm>
          <a:prstGeom prst="ellipse">
            <a:avLst/>
          </a:prstGeom>
          <a:solidFill>
            <a:srgbClr val="38BDF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270000" y="3810000"/>
            <a:ext cx="3810000" cy="3810000"/>
          </a:xfrm>
          <a:prstGeom prst="ellipse">
            <a:avLst/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38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Linux入门：文件系统结构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270000"/>
            <a:ext cx="11176000" cy="635000"/>
          </a:xfrm>
          <a:prstGeom prst="roundRect">
            <a:avLst>
              <a:gd name="adj" fmla="val 0"/>
            </a:avLst>
          </a:prstGeom>
          <a:solidFill>
            <a:srgbClr val="38BDF8">
              <a:alpha val="12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000" y="1397000"/>
            <a:ext cx="1092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BAE6FD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核心认知：Linux 秉持「一切皆文件」的设计哲学，理解树状目录结构是掌握系统操作的第一步。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159000"/>
            <a:ext cx="53975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2476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06500" y="22606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/home 个人专属家园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存放用户的文档、配置与个人数据，类比 Windows 的 C:\Users\你的名字，每个用户拥有独立空间。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08000" y="3302000"/>
            <a:ext cx="53975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500" y="3619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06500" y="34036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/root 超级管理员目录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系统最高权限用户（root）的家目录，普通用户无写入权限，存放管理员的专属配置与文件。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08000" y="4445000"/>
            <a:ext cx="53975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500" y="4762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206500" y="45466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/etc 系统配置中心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存放系统全局配置文件（如网络、服务）及各类软件的核心配置参数，修改需谨慎。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86500" y="2159000"/>
            <a:ext cx="53975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2476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22606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/bin /sbin 系统命令库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/bin 存放所有用户可用的基础命令（如ls、cd）；/sbin 存放仅管理员可用的系统维护命令。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86500" y="3302000"/>
            <a:ext cx="53975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3619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34036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/usr 应用程序仓库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用户安装的软件、文档、帮助手册及共享库聚集地，功能类似 Windows 的 Program Files。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286500" y="4445000"/>
            <a:ext cx="53975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77000" y="47625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85000" y="45466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/dev 硬件映射 &amp; /tmp 临时区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/dev 将硬件设备抽象为文件（如硬盘、鼠标）；/tmp 是临时文件中转站，系统重启后数据自动清空。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508000" y="5715000"/>
            <a:ext cx="11176000" cy="635000"/>
          </a:xfrm>
          <a:prstGeom prst="roundRect">
            <a:avLst>
              <a:gd name="adj" fmla="val 0"/>
            </a:avLst>
          </a:prstGeom>
          <a:solidFill>
            <a:srgbClr val="F59E0B">
              <a:alpha val="10000"/>
            </a:srgbClr>
          </a:solidFill>
          <a:ln w="12700" cap="flat" cmpd="sng">
            <a:solidFill>
              <a:srgbClr val="F59E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35000" y="5842000"/>
            <a:ext cx="1092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DBA7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学习贴士：不必试图一次性记住所有目录！重点掌握上述高频目录，随着日常操作的积累，你会自然而然地熟悉它们。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74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270000"/>
            <a:ext cx="3810000" cy="38100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270000" y="3810000"/>
            <a:ext cx="5080000" cy="50800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38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最常用的10个Linux文件命令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270000"/>
            <a:ext cx="11176000" cy="635000"/>
          </a:xfrm>
          <a:prstGeom prst="roundRect">
            <a:avLst>
              <a:gd name="adj" fmla="val 0"/>
            </a:avLst>
          </a:prstGeom>
          <a:solidFill>
            <a:srgbClr val="F59E0B">
              <a:alpha val="15000"/>
            </a:srgbClr>
          </a:solidFill>
          <a:ln w="12700" cap="flat" cmpd="sng">
            <a:solidFill>
              <a:srgbClr val="F59E0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000" y="1371600"/>
            <a:ext cx="1092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FCD34D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核心洞察：</a:t>
            </a: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这10个命令覆盖了日常文件操作80%的需求，是Linux终端的入门基石，熟练掌握即可高效完成管理任务。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159000"/>
            <a:ext cx="5461000" cy="7874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" y="2222500"/>
            <a:ext cx="5207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01. ls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列出目录内容 | 目录导航起点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参数：-l（详细权限与大小）、-a（显示隐藏文件）、-lh（人性化单位）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08000" y="3048000"/>
            <a:ext cx="5461000" cy="7874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35000" y="3111500"/>
            <a:ext cx="5207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02. cd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切换工作目录 | 穿梭文件系统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用法：cd ..（返回上级）、cd ~（家目录）、cd /（系统根目录）、cd -（上一次目录）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08000" y="3937000"/>
            <a:ext cx="5461000" cy="7874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35000" y="4000500"/>
            <a:ext cx="5207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03. pwd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显示当前路径 | 防迷路指南针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全称 Print Working Directory，当你在终端“迷路”时，它会告诉你所在的绝对路径。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08000" y="4826000"/>
            <a:ext cx="5461000" cy="7874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35000" y="4889500"/>
            <a:ext cx="5207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04. mkdir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创建新目录 | 构建文件夹树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关键参数：-p（递归创建多层目录，如 mkdir -p src/main/java）、-m（直接设置权限）。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08000" y="5689600"/>
            <a:ext cx="5461000" cy="7874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35000" y="5753100"/>
            <a:ext cx="5207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05. cp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复制文件目录 | 数据备份迁移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用法：cp file.txt /tmp；复制文件夹必须加 -r（递归），如 cp -r dir1 dir2。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2159000"/>
            <a:ext cx="5461000" cy="7874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350000" y="2222500"/>
            <a:ext cx="5207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06. mv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移动/重命名 | 文件搬家改名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重命名：mv old_name new_name；移动位置：mv file /home/user；可跨分区移动。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3048000"/>
            <a:ext cx="5461000" cy="787400"/>
          </a:xfrm>
          <a:prstGeom prst="roundRect">
            <a:avLst>
              <a:gd name="adj" fmla="val 0"/>
            </a:avLst>
          </a:prstGeom>
          <a:solidFill>
            <a:srgbClr val="EF4444">
              <a:alpha val="1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350000" y="3111500"/>
            <a:ext cx="5207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07. rm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删除文件目录 | 高危操作！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CA5A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警告：-rf 强制递归删除，切勿执行 rm -rf /* (会清空系统)；建议使用 -i 交互确认。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223000" y="3937000"/>
            <a:ext cx="5461000" cy="7874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350000" y="4000500"/>
            <a:ext cx="5207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08. cat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查看文件内容 | 短文本阅读器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一次性输出文件全部内容，适合查看配置文件或代码片段，如 cat /etc/hosts。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223000" y="4826000"/>
            <a:ext cx="5461000" cy="7874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350000" y="4889500"/>
            <a:ext cx="5207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09. less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分页查看大文件 | 高效阅读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支持上下翻页、关键词搜索（/xxx）、跳转行号，比 cat 更适合日志或大文件，按 q 退出。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223000" y="5689600"/>
            <a:ext cx="5461000" cy="7874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350000" y="5753100"/>
            <a:ext cx="5207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10. find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文件搜索神器 | 精准定位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A0AEC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按名查找：find /path -name "*.log"；按大小：find . -size +10M；支持按时间/权限查找。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270000"/>
            <a:ext cx="5080000" cy="5080000"/>
          </a:xfrm>
          <a:prstGeom prst="ellipse">
            <a:avLst/>
          </a:prstGeom>
          <a:solidFill>
            <a:srgbClr val="38BDF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Linux权限管理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38BDF8">
              <a:alpha val="15000"/>
            </a:srgbClr>
          </a:solidFill>
          <a:ln w="12700" cap="flat" cmpd="sng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1524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CFFAFE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核心结论：理解文件权限的分配逻辑与修改方式，就能彻底告别终端中常见的 "Permission denied" 错误。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413000"/>
            <a:ext cx="21336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2603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079500" y="2603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1. 类型标识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35000" y="3048000"/>
            <a:ext cx="1879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首位定义文件属性：</a:t>
            </a:r>
            <a:b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'-' 普通文件 / 'd' 目录</a:t>
            </a:r>
            <a:b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'l' 软链接 / 'c' 设备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2806700" y="2413000"/>
            <a:ext cx="2133600" cy="1651000"/>
          </a:xfrm>
          <a:prstGeom prst="roundRect">
            <a:avLst>
              <a:gd name="adj" fmla="val 0"/>
            </a:avLst>
          </a:prstGeom>
          <a:solidFill>
            <a:srgbClr val="34D399">
              <a:alpha val="8000"/>
            </a:srgbClr>
          </a:solidFill>
          <a:ln w="12700" cap="flat" cmpd="sng">
            <a:solidFill>
              <a:srgbClr val="34D3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97200" y="2603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3378200" y="2603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34D39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2. 所有者 (u)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2933700" y="3048000"/>
            <a:ext cx="1879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A7F3D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文件创建者权限</a:t>
            </a:r>
            <a:b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A7F3D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A7F3D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示例：rw- 代表读写</a:t>
            </a:r>
            <a:b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A7F3D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A7F3D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数值：4(读)+2(写)=6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105400" y="2413000"/>
            <a:ext cx="2133600" cy="1651000"/>
          </a:xfrm>
          <a:prstGeom prst="roundRect">
            <a:avLst>
              <a:gd name="adj" fmla="val 0"/>
            </a:avLst>
          </a:prstGeom>
          <a:solidFill>
            <a:srgbClr val="60A5FA">
              <a:alpha val="8000"/>
            </a:srgbClr>
          </a:solidFill>
          <a:ln w="12700" cap="flat" cmpd="sng">
            <a:solidFill>
              <a:srgbClr val="60A5F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95900" y="2603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676900" y="2603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60A5F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3. 同组 (g)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5232400" y="3048000"/>
            <a:ext cx="1879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BFDBFE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所属群组权限</a:t>
            </a:r>
            <a:b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BFDBFE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BFDBFE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示例：r-- 代表只读</a:t>
            </a:r>
            <a:b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BFDBFE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BFDBFE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数值：仅 4(读)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404100" y="2413000"/>
            <a:ext cx="2133600" cy="1651000"/>
          </a:xfrm>
          <a:prstGeom prst="roundRect">
            <a:avLst>
              <a:gd name="adj" fmla="val 0"/>
            </a:avLst>
          </a:prstGeom>
          <a:solidFill>
            <a:srgbClr val="FBBF24">
              <a:alpha val="8000"/>
            </a:srgbClr>
          </a:solidFill>
          <a:ln w="12700" cap="flat" cmpd="sng">
            <a:solidFill>
              <a:srgbClr val="FBBF2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94600" y="2603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975600" y="2603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BBF2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4. 其他 (o)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531100" y="3048000"/>
            <a:ext cx="1879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DE6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系统其他用户权限</a:t>
            </a:r>
            <a:b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DE6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DE6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示例：r-- 代表只读</a:t>
            </a:r>
            <a:b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DE6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DE6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数值：仅 4(读)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9702800" y="2413000"/>
            <a:ext cx="2133600" cy="1651000"/>
          </a:xfrm>
          <a:prstGeom prst="roundRect">
            <a:avLst>
              <a:gd name="adj" fmla="val 0"/>
            </a:avLst>
          </a:prstGeom>
          <a:solidFill>
            <a:srgbClr val="F472B6">
              <a:alpha val="8000"/>
            </a:srgbClr>
          </a:solidFill>
          <a:ln w="12700" cap="flat" cmpd="sng">
            <a:solidFill>
              <a:srgbClr val="F472B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893300" y="2603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0274300" y="26035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472B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5. 八进制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9829800" y="3048000"/>
            <a:ext cx="1879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BCFE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权限数值化表示</a:t>
            </a:r>
            <a:b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BCFE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BCFE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644 (读写-读-读)</a:t>
            </a:r>
            <a:b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BCFE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BCFE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755 (读写执-读执-读执)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508000" y="4254500"/>
            <a:ext cx="5461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98500" y="4381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🛠️ 高频权限管理命令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98500" y="4826000"/>
            <a:ext cx="5080000" cy="457200"/>
          </a:xfrm>
          <a:prstGeom prst="roundRect">
            <a:avLst>
              <a:gd name="adj" fmla="val 0"/>
            </a:avLst>
          </a:prstGeom>
          <a:solidFill>
            <a:srgbClr val="38BDF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825500" y="4889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BAE6FD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chmod：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BAE6FD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修改权限 (如 chmod +x file 加执行, chmod 755 file 设权限)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698500" y="5308600"/>
            <a:ext cx="5080000" cy="457200"/>
          </a:xfrm>
          <a:prstGeom prst="roundRect">
            <a:avLst>
              <a:gd name="adj" fmla="val 0"/>
            </a:avLst>
          </a:prstGeom>
          <a:solidFill>
            <a:srgbClr val="A78BFA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825500" y="53721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DDD6FE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chown：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DDD6FE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变更归属 (如 chown user:group /data 改属主属组)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698500" y="5791200"/>
            <a:ext cx="5080000" cy="457200"/>
          </a:xfrm>
          <a:prstGeom prst="roundRect">
            <a:avLst>
              <a:gd name="adj" fmla="val 0"/>
            </a:avLst>
          </a:prstGeom>
          <a:solidFill>
            <a:srgbClr val="FB923C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825500" y="58547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FDBA7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sudo：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DBA7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临时提权 (如 sudo apt install 安装软件需管理员)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6223000" y="4254500"/>
            <a:ext cx="5461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6413500" y="4381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🚫 应对 "Permission denied" 的两种方案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6413500" y="4889500"/>
            <a:ext cx="2514600" cy="1206500"/>
          </a:xfrm>
          <a:prstGeom prst="roundRect">
            <a:avLst>
              <a:gd name="adj" fmla="val 0"/>
            </a:avLst>
          </a:prstGeom>
          <a:solidFill>
            <a:srgbClr val="F59E0B">
              <a:alpha val="10000"/>
            </a:srgbClr>
          </a:solidFill>
          <a:ln w="12700" cap="flat" cmpd="sng">
            <a:solidFill>
              <a:srgbClr val="F59E0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6540500" y="4978400"/>
            <a:ext cx="23876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BBF2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场景A：系统级操作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DE6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解决方案：使用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DE6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sudo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DE6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提权。针对安装软件、修改系统配置等需要root权限的场景。</a:t>
            </a:r>
          </a:p>
        </p:txBody>
      </p:sp>
      <p:sp>
        <p:nvSpPr>
          <p:cNvPr id="39" name="AutoShape 39"/>
          <p:cNvSpPr/>
          <p:nvPr/>
        </p:nvSpPr>
        <p:spPr>
          <a:xfrm>
            <a:off x="9042400" y="4889500"/>
            <a:ext cx="25146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9169400" y="4978400"/>
            <a:ext cx="23876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34D39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场景B：用户文件操作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A7F3D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解决方案：使用</a:t>
            </a: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A7F3D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chmod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A7F3D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授权。针对自己目录下的脚本执行、文件写入等场景，直接修改文件权限。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563E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远程连接：怎么连服务器/机器人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11176000" cy="8255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w="12700" cap="flat" cmpd="sng">
            <a:solidFill>
              <a:srgbClr val="2563E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11200" y="1549400"/>
            <a:ext cx="107696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E40A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核心结论：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SSH 是连接服务器与机器人的行业标准，通过加密通道实现安全的远程控制，是机器人开发与运维的必备技能，无需物理接触即可操作设备。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413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200" y="26162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17600" y="25908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 服务端部署 (必备)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11200" y="3048000"/>
            <a:ext cx="3200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在机器人或服务器上执行命令安装服务：</a:t>
            </a:r>
            <a:b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sudo apt install openssh-server</a:t>
            </a:r>
            <a:b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安装并启动后，设备即开启远程访问入口。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318000" y="2413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1200" y="26162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927600" y="25908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 发起远程连接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521200" y="3048000"/>
            <a:ext cx="3200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本地终端输入指令建立连接：</a:t>
            </a:r>
            <a:b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ssh 用户名@IP地址</a:t>
            </a:r>
            <a:b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示例：ssh ubuntu@192.168.1.100，验证密码即可操控。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128000" y="2413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31200" y="26162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737600" y="25908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 加密传输文件 (SCP)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331200" y="3048000"/>
            <a:ext cx="3200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安全复制命令实现双向传输：</a:t>
            </a:r>
            <a:b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scp 本地文件 用户名@IP:远程路径</a:t>
            </a:r>
            <a:b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替代传统FTP，数据全程加密，安全高效。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08000" y="4318000"/>
            <a:ext cx="5461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1200" y="45212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117600" y="4495800"/>
            <a:ext cx="469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 进阶：配置免密登录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11200" y="4953000"/>
            <a:ext cx="5003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执行</a:t>
            </a: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ssh-keygen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生成公私钥对，将公钥(id_rsa.pub)复制到远程机器的 authorized_keys 文件中。从此登录无需输入密码，既提升效率又避免密码泄露风险。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223000" y="4318000"/>
            <a:ext cx="5461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26200" y="45212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832600" y="4495800"/>
            <a:ext cx="4699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05 开发调试：高效工具推荐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426200" y="4953000"/>
            <a:ext cx="5003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Windows 推荐 Xshell/FinalShell 管理多连接；开发者首选</a:t>
            </a: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VS Code Remote SSH 插件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，直接在本地编辑器中编写、调试远程代码，体验无缝衔接。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508000" y="61595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🚀 掌握 SSH 让你彻底摆脱物理线缆的束缚，无论是调试机器人还是管理服务器，都能实现“运筹帷幄，决胜千里”。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3175000" cy="3175000"/>
          </a:xfrm>
          <a:prstGeom prst="ellipse">
            <a:avLst/>
          </a:prstGeom>
          <a:solidFill>
            <a:srgbClr val="F59E0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Linux常用工具：vim/grep/awk/sed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270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🚀 掌握这四大文本处理神器，让命令行效率直接起飞！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08000" y="2032000"/>
            <a:ext cx="5461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032000"/>
            <a:ext cx="76200" cy="1841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500" y="2222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33500" y="2222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grep · 文本搜索引擎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25500" y="26670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快速检索文件或目录中的关键词，支持递归搜索，是定位代码片段、日志关键字的必备神器。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25500" y="3327400"/>
            <a:ext cx="5016500" cy="4064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952500" y="3378200"/>
            <a:ext cx="4889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Roboto Mono"/>
                <a:ea typeface="Roboto Mono"/>
                <a:cs typeface="Roboto Mono"/>
                <a:sym typeface="Roboto Mono"/>
              </a:rPr>
              <a:t>$ grep -r "error" /var/log/ # 递归搜索日志中的错误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2032000"/>
            <a:ext cx="5461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2032000"/>
            <a:ext cx="76200" cy="18415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0500" y="2222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048500" y="2222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vim · 终端全能编辑器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540500" y="26670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无需图形界面即可高效编辑配置文件或代码。掌握基础插入、保存退出即可应对日常需求。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540500" y="3327400"/>
            <a:ext cx="5016500" cy="4064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667500" y="3378200"/>
            <a:ext cx="4889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Roboto Mono"/>
                <a:ea typeface="Roboto Mono"/>
                <a:cs typeface="Roboto Mono"/>
                <a:sym typeface="Roboto Mono"/>
              </a:rPr>
              <a:t>$ vim file.txt # 打开文件 | i(插入) | :wq(保存退出)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508000" y="4064000"/>
            <a:ext cx="5461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508000" y="4064000"/>
            <a:ext cx="76200" cy="18415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5500" y="42545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333500" y="4254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awk · 数据列处理专家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825500" y="46990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专为结构化文本设计，擅长分析日志、CSV等列格式数据，快速提取特定列或进行统计计算。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825500" y="5359400"/>
            <a:ext cx="5016500" cy="406400"/>
          </a:xfrm>
          <a:prstGeom prst="roundRect">
            <a:avLst>
              <a:gd name="adj" fmla="val 0"/>
            </a:avLst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952500" y="5410200"/>
            <a:ext cx="4889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D97706"/>
                </a:solidFill>
                <a:effectLst/>
                <a:uLnTx/>
                <a:uFillTx/>
                <a:latin typeface="Roboto Mono"/>
                <a:ea typeface="Roboto Mono"/>
                <a:cs typeface="Roboto Mono"/>
                <a:sym typeface="Roboto Mono"/>
              </a:rPr>
              <a:t>$ awk '{print $1, $3}' data.csv # 打印第1和第3列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223000" y="4064000"/>
            <a:ext cx="5461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223000" y="4064000"/>
            <a:ext cx="76200" cy="18415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0500" y="4254500"/>
            <a:ext cx="355600" cy="355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048500" y="4254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sed · 批量流编辑器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6540500" y="46990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非交互式的流编辑工具，用于自动化的批量替换、删除或新增文本，处理配置文件非常高效。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6540500" y="5359400"/>
            <a:ext cx="5016500" cy="406400"/>
          </a:xfrm>
          <a:prstGeom prst="roundRect">
            <a:avLst>
              <a:gd name="adj" fmla="val 0"/>
            </a:avLst>
          </a:prstGeom>
          <a:solidFill>
            <a:srgbClr val="8B5C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6667500" y="5410200"/>
            <a:ext cx="4889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7C3AED"/>
                </a:solidFill>
                <a:effectLst/>
                <a:uLnTx/>
                <a:uFillTx/>
                <a:latin typeface="Roboto Mono"/>
                <a:ea typeface="Roboto Mono"/>
                <a:cs typeface="Roboto Mono"/>
                <a:sym typeface="Roboto Mono"/>
              </a:rPr>
              <a:t>$ sed -i 's/old_str/new_str/g' file.txt # 全局替换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508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Shell脚本基础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11176000" cy="8128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000" y="15494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核心价值：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Shell脚本是自动化的「瑞士军刀」，将需要重复执行的命令序列写入文件，一次运行即可搞定繁琐的重复性工作，极大提升效率。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476500"/>
            <a:ext cx="3556000" cy="2857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2667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079500" y="26416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 脚本运行三步法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35000" y="3111500"/>
            <a:ext cx="330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1.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声明解释器：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首行写 #!/bin/bash 声明Bash环境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2.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添加权限：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chmod +x test.sh 赋予执行能力</a:t>
            </a:r>
          </a:p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3.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执行脚本：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./test.sh 在当前目录直接运行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318000" y="2476500"/>
            <a:ext cx="3556000" cy="28575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8500" y="2667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889500" y="26416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 常用语法速查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445000" y="3111500"/>
            <a:ext cx="330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变量：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name="张三" 赋值，echo $name 取值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循环：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for i in {1..10}; do ...; done</a:t>
            </a:r>
          </a:p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判断：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if [ -f file ]; then ...; fi</a:t>
            </a:r>
          </a:p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参数：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$1(第1个参数)、$@(所有参数)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128000" y="2476500"/>
            <a:ext cx="3556000" cy="2857500"/>
          </a:xfrm>
          <a:prstGeom prst="roundRect">
            <a:avLst>
              <a:gd name="adj" fmla="val 0"/>
            </a:avLst>
          </a:prstGeom>
          <a:solidFill>
            <a:srgbClr val="FFFBEB">
              <a:alpha val="100000"/>
            </a:srgbClr>
          </a:solidFill>
          <a:ln w="12700" cap="flat" cmpd="sng">
            <a:solidFill>
              <a:srgbClr val="F59E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18500" y="2667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699500" y="26416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D9770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 实战：批量重命名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255000" y="3175000"/>
            <a:ext cx="3302000" cy="1079500"/>
          </a:xfrm>
          <a:prstGeom prst="roundRect">
            <a:avLst>
              <a:gd name="adj" fmla="val 0"/>
            </a:avLst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318500" y="32385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#!/bin/bash</a:t>
            </a:r>
            <a:b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for file in *.txt; do</a:t>
            </a:r>
            <a:b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mv "$file" "${file%.txt}.md"</a:t>
            </a:r>
            <a:b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done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255000" y="43815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这段脚本可将当前目录下所有 .txt 文件批量转为 .md 格式，几行代码解决手动改名的麻烦。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508000" y="5524500"/>
            <a:ext cx="11176000" cy="8890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000" y="57912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270000" y="5651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FBBF2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场景选择建议：</a:t>
            </a: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简单的系统管理、文件操作、命令串联用 Shell 最轻便高效；如果涉及复杂的逻辑判断、数据计算或跨平台需求，Python 会是更优的选择。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0F5FF">
                <a:alpha val="100000"/>
              </a:srgbClr>
            </a:gs>
            <a:gs pos="100000">
              <a:srgbClr val="E1EBFA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381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计算机网络基础：你必须知道的几个概念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270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98500" y="1397000"/>
            <a:ext cx="1079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🚀 核心结论：无论是开发机器人控制系统，还是构建分布式AI系统，扎实的网络基础都是打通设备通信、实现数据交互的关键前提。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413000"/>
            <a:ext cx="3556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2603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079500" y="25781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01. IP 地址：设备的“门牌号”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98500" y="3048000"/>
            <a:ext cx="317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每台联网设备的唯一标识。就像门牌号一样，它让数据知道该发送到哪里。例如 192.168.1.100 是典型的局域网IP，是机器人在本地网络中被识别的基础。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318000" y="2413000"/>
            <a:ext cx="3556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8500" y="2603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889500" y="25781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02. 端口：网络的“房间号”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508500" y="3048000"/>
            <a:ext cx="317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IP是门牌号，端口就是具体的房间号。一台设备有65535个端口，不同服务占用不同端口（如SSH用22，HTTP用80），这让一个IP能同时运行多个网络程序。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128000" y="2413000"/>
            <a:ext cx="3556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18500" y="2603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699500" y="25781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03. TCP/UDP：传输的“双引擎”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318500" y="3048000"/>
            <a:ext cx="317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TCP是“稳重型”，保证数据不丢包（适合发控制指令）；UDP是“速度型”，延迟极低但可能丢包（适合传感器数据流、视频传输）。机器人常混合使用两者。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08000" y="4508500"/>
            <a:ext cx="5461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500" y="4699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079500" y="46736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04. HTTP/HTTPS：应用层的“通用语言”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98500" y="5143500"/>
            <a:ext cx="5016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这是互联网最常用的协议，不仅用于浏览网页，更是API接口调用、文件下载的标准。在机器人领域，常用于远程监控、与云端服务器交互或通过Web界面控制机器人。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223000" y="4508500"/>
            <a:ext cx="5461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3500" y="46990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794500" y="46736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05. 局域网 vs 公网：通信的“边界”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413500" y="5143500"/>
            <a:ext cx="5016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机器人通常运行在局域网（同一WiFi下，低延迟、高稳定性，适合实时控制）；公网即互联网，用于跨地域远程控制（需解决内网穿透问题）。理解两者是排查网络故障的第一步。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操作系统核心概念：进程、线程、内存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270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98500" y="1422400"/>
            <a:ext cx="1079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理解这些底层运行机制，不仅是掌握操作系统原理的基础，更是编写高并发、低延迟、稳定可靠的高性能程序的前提。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286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2476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079500" y="2476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 进程 (Process)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98500" y="29210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程序运行的独立实体，拥有专属内存空间与系统资源。进程间相互隔离，一个进程崩溃不会波及其他进程，是系统资源分配的最小单位。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318000" y="2286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8500" y="2476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889500" y="2476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 线程 (Thread)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508500" y="29210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进程内的执行流，共享进程的内存与资源。线程间通信成本极低，但资源共享带来了同步互斥问题；单一线程崩溃可能导致整个进程终止。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128000" y="2286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18500" y="2476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699500" y="2476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 并发 vs 并行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318500" y="29210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并发是CPU快速切换任务，宏观上看似同时执行（单核也能实现）；并行是多核CPU同时处理多个任务，真正的“同时发生”，是提升吞吐量的关键。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08000" y="4191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500" y="4381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079500" y="4381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 物理内存特性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98500" y="48260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程序运行时数据的高速暂存区，读写速度可达纳秒级。具有易失性，断电即失；与硬盘（持久存储、速度慢）配合，构建了计算机的存储层次体系。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4318000" y="4191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08500" y="4381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4889500" y="4381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05 虚拟内存技术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4508500" y="48260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系统将部分硬盘空间模拟为内存使用，作为物理内存的扩展。当物理内存不足时启用，解决了容量限制问题，但因磁盘IO的慢速特性，会引发性能骤降。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8128000" y="4191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318500" y="43815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8699500" y="43815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06 中断机制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8318500" y="48260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CPU响应外部事件的核心机制。硬件或软件发出信号后，CPU暂停当前任务，优先处理紧急事件，完成后恢复原任务，是OS实现多任务的基础。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508000" y="60325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1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关键启示：无需死记硬背定义，重点在于理解这些机制如何影响程序的运行效率、资源占用与系统稳定性，这是优化代码性能的底层逻辑。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635000"/>
            <a:ext cx="2540000" cy="254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1905000" cy="1905000"/>
          </a:xfrm>
          <a:prstGeom prst="ellipse">
            <a:avLst/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81000" y="3810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环境变量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381000" y="1143000"/>
            <a:ext cx="11430000" cy="812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08000" y="1295400"/>
            <a:ext cx="1117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核心结论：理解环境变量，就彻底告别「command not found」的困扰，解决程序调用的根本路径问题。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81000" y="2159000"/>
            <a:ext cx="5588000" cy="1841500"/>
          </a:xfrm>
          <a:prstGeom prst="roundRect">
            <a:avLst>
              <a:gd name="adj" fmla="val 0"/>
            </a:avLst>
          </a:prstGeom>
          <a:solidFill>
            <a:srgbClr val="3B82F6">
              <a:alpha val="6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" y="23622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23622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 核心本质：系统的「全局配置池」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09600" y="2857500"/>
            <a:ext cx="5130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环境变量是操作系统中具有全局作用域的动态参数，所有运行的程序、终端会话和后台进程都能实时读取。它像一块“公共信息板”，让系统和软件共享关键配置信息。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2159000"/>
            <a:ext cx="5588000" cy="1841500"/>
          </a:xfrm>
          <a:prstGeom prst="roundRect">
            <a:avLst>
              <a:gd name="adj" fmla="val 0"/>
            </a:avLst>
          </a:prstGeom>
          <a:solidFill>
            <a:srgbClr val="3B82F6">
              <a:alpha val="6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1600" y="23622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985000" y="23622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 PATH：命令的「寻址雷达」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451600" y="2857500"/>
            <a:ext cx="5130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执行命令时，系统会按顺序扫描 PATH 中记录的目录，寻找匹配的可执行文件。若扫描完所有目录仍未找到，就会抛出「command not found」错误，这是90%此类报错的直接原因。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81000" y="4191000"/>
            <a:ext cx="5588000" cy="1841500"/>
          </a:xfrm>
          <a:prstGeom prst="roundRect">
            <a:avLst>
              <a:gd name="adj" fmla="val 0"/>
            </a:avLst>
          </a:prstGeom>
          <a:solidFill>
            <a:srgbClr val="10B981">
              <a:alpha val="6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600" y="43942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143000" y="43942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 实操配置：三步完成「路径注册」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09600" y="4889500"/>
            <a:ext cx="5130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1. 编辑配置：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vim ~/.bashrc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(或 zshrc)；</a:t>
            </a:r>
            <a:b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2. 追加路径：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export PATH=$PATH:/目标程序目录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；</a:t>
            </a:r>
            <a:b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3. 立即生效：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source ~/.bashrc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或重启终端。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4191000"/>
            <a:ext cx="5588000" cy="1841500"/>
          </a:xfrm>
          <a:prstGeom prst="roundRect">
            <a:avLst>
              <a:gd name="adj" fmla="val 0"/>
            </a:avLst>
          </a:prstGeom>
          <a:solidFill>
            <a:srgbClr val="10B981">
              <a:alpha val="6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51600" y="43942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43942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 扩展应用与排错技巧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451600" y="4889500"/>
            <a:ext cx="51308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• 扩展变量：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LD_LIBRARY_PATH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(动态库)、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PYTHONPATH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(模块)；</a:t>
            </a:r>
            <a:b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• 快速排错：输入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echo $PATH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查看当前路径，确认程序目录是否存在；</a:t>
            </a:r>
            <a:b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• 核心口诀：“程序在哪，就把哪的路径加入 PATH”。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381000" y="6121400"/>
            <a:ext cx="11430000" cy="508000"/>
          </a:xfrm>
          <a:prstGeom prst="roundRect">
            <a:avLst>
              <a:gd name="adj" fmla="val 0"/>
            </a:avLst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508000" y="6223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B4530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避坑指南：安装软件后若提示找不到命令，第一步永远是检查该软件的安装目录是否被添加到了系统的 PATH 环境变量中。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635000"/>
            <a:ext cx="2540000" cy="254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635000" y="5715000"/>
            <a:ext cx="1905000" cy="1905000"/>
          </a:xfrm>
          <a:prstGeom prst="ellipse">
            <a:avLst/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4445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虚拟环境：不要把系统Python搞崩了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270000"/>
            <a:ext cx="11176000" cy="825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1397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核心结论：</a:t>
            </a: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为每个项目创建独立的虚拟环境，从根源上隔离依赖包与系统环境，彻底避免因版本冲突导致的系统崩溃，这是Python开发的“保命”习惯。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413000"/>
            <a:ext cx="5461000" cy="1841500"/>
          </a:xfrm>
          <a:prstGeom prst="roundRect">
            <a:avLst>
              <a:gd name="adj" fmla="val 0"/>
            </a:avLst>
          </a:prstGeom>
          <a:solidFill>
            <a:srgbClr val="EF4444">
              <a:alpha val="6000"/>
            </a:srgbClr>
          </a:solidFill>
          <a:ln w="12700" cap="flat" cmpd="sng">
            <a:solidFill>
              <a:srgbClr val="EF4444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11200" y="2603500"/>
            <a:ext cx="406400" cy="406400"/>
          </a:xfrm>
          <a:prstGeom prst="ellipse">
            <a:avLst/>
          </a:prstGeom>
          <a:solidFill>
            <a:srgbClr val="EF444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400" y="26797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19200" y="26162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 新手雷区：sudo pip install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11200" y="30734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直接用管理员权限安装包会污染系统级Python环境。系统工具（如apt、yum）依赖特定版本的库，一旦被覆盖或冲突，可能导致系统命令失效，严重时只能重装系统。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223000" y="2413000"/>
            <a:ext cx="5461000" cy="1841500"/>
          </a:xfrm>
          <a:prstGeom prst="roundRect">
            <a:avLst>
              <a:gd name="adj" fmla="val 0"/>
            </a:avLst>
          </a:prstGeom>
          <a:solidFill>
            <a:srgbClr val="3B82F6">
              <a:alpha val="6000"/>
            </a:srgbClr>
          </a:solidFill>
          <a:ln w="12700" cap="flat" cmpd="sng">
            <a:solidFill>
              <a:srgbClr val="3B82F6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426200" y="2603500"/>
            <a:ext cx="406400" cy="406400"/>
          </a:xfrm>
          <a:prstGeom prst="ellipse">
            <a:avLst/>
          </a:prstGeom>
          <a:solidFill>
            <a:srgbClr val="3B82F6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02400" y="26797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34200" y="26162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D4ED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 隔离机制：解决版本冲突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426200" y="30734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不同项目对库版本的需求可能互斥（如项目A需Numpy 1.20，项目B需Numpy 2.0）。虚拟环境为每个项目提供独立的Python解释器和包目录，实现环境间的完全物理隔离，互不干扰。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508000" y="4381500"/>
            <a:ext cx="5461000" cy="1841500"/>
          </a:xfrm>
          <a:prstGeom prst="roundRect">
            <a:avLst>
              <a:gd name="adj" fmla="val 0"/>
            </a:avLst>
          </a:prstGeom>
          <a:solidFill>
            <a:srgbClr val="10B981">
              <a:alpha val="6000"/>
            </a:srgbClr>
          </a:solidFill>
          <a:ln w="12700" cap="flat" cmpd="sng">
            <a:solidFill>
              <a:srgbClr val="10B98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11200" y="4572000"/>
            <a:ext cx="406400" cy="406400"/>
          </a:xfrm>
          <a:prstGeom prst="ellipse">
            <a:avLst/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7400" y="46482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219200" y="45847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 主流工具：轻量与全能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11200" y="50419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venv：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Python 3.3+ 内置模块，无需额外安装，轻量便捷，适合常规Python开发。</a:t>
            </a:r>
            <a:b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Conda：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跨语言包管理器，支持Python多版本及C++/CUDA等底层依赖，是AI与数据科学领域的首选。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223000" y="4381500"/>
            <a:ext cx="5461000" cy="1841500"/>
          </a:xfrm>
          <a:prstGeom prst="roundRect">
            <a:avLst>
              <a:gd name="adj" fmla="val 0"/>
            </a:avLst>
          </a:prstGeom>
          <a:solidFill>
            <a:srgbClr val="F59E0B">
              <a:alpha val="6000"/>
            </a:srgbClr>
          </a:solidFill>
          <a:ln w="12700" cap="flat" cmpd="sng">
            <a:solidFill>
              <a:srgbClr val="F59E0B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426200" y="4572000"/>
            <a:ext cx="406400" cy="406400"/>
          </a:xfrm>
          <a:prstGeom prst="ellipse">
            <a:avLst/>
          </a:prstGeom>
          <a:solidFill>
            <a:srgbClr val="F59E0B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02400" y="4648200"/>
            <a:ext cx="254000" cy="254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934200" y="45847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B4530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 协作规范：Requirements.txt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426200" y="5041900"/>
            <a:ext cx="508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养成导出依赖清单的习惯：使用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B4530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pip freeze &gt; requirements.txt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固化环境配置，他人通过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B4530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pip install -r requirements.txt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即可一键复现，避免“代码在我这能跑”的尴尬。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>
                <a:alpha val="100000"/>
              </a:srgbClr>
            </a:gs>
            <a:gs pos="100000">
              <a:srgbClr val="F1F5F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Docker基础：一键配置环境，再也不会出现“在我电脑上能跑”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5461000" cy="1143000"/>
          </a:xfrm>
          <a:prstGeom prst="roundRect">
            <a:avLst>
              <a:gd name="adj" fmla="val 0"/>
            </a:avLst>
          </a:prstGeom>
          <a:solidFill>
            <a:srgbClr val="FEE2E2">
              <a:alpha val="30000"/>
            </a:srgbClr>
          </a:solidFill>
          <a:ln w="12700" cap="flat" cmpd="sng">
            <a:solidFill>
              <a:srgbClr val="EF4444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1587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06500" y="14986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B91C1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开发界的世纪难题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“在我电脑上能跑啊！”环境配置不一致、依赖库版本冲突、系统差异导致的部署失败，往往耗费数小时甚至数天来排查。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6223000" y="1397000"/>
            <a:ext cx="5461000" cy="1143000"/>
          </a:xfrm>
          <a:prstGeom prst="roundRect">
            <a:avLst>
              <a:gd name="adj" fmla="val 0"/>
            </a:avLst>
          </a:prstGeom>
          <a:solidFill>
            <a:srgbClr val="D1FAE5">
              <a:alpha val="30000"/>
            </a:srgbClr>
          </a:solidFill>
          <a:ln w="12700" cap="flat" cmpd="sng">
            <a:solidFill>
              <a:srgbClr val="10B981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1587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921500" y="14986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Docker 的终极解决方案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将代码、运行时、系统工具、依赖库完整打包成“镜像”，实现环境的标准化交付。在任何装有 Docker 的机器上，都能一键还原，环境 100% 一致。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08000" y="2794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3B82F6">
              <a:alpha val="6000"/>
            </a:srgbClr>
          </a:solidFill>
          <a:ln w="12700" cap="flat" cmpd="sng">
            <a:solidFill>
              <a:srgbClr val="3B82F6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500" y="2984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079500" y="29845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 镜像 (Image)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98500" y="3429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就像软件的“安装包”或“快照”，是只读的静态模板。它包含了运行应用所需的一切：代码、系统库、环境变量等，是创建容器的基础。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318000" y="2794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A855F7">
              <a:alpha val="6000"/>
            </a:srgbClr>
          </a:solidFill>
          <a:ln w="12700" cap="flat" cmpd="sng">
            <a:solidFill>
              <a:srgbClr val="A855F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08500" y="2984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889500" y="29845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581C8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 容器 (Container)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508500" y="3429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镜像运行起来的动态实例，轻量级且相互隔离。如同独立的“微型虚拟机”，秒级启动，占用资源极少，是应用实际运行的载体。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128000" y="2794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59E0B">
              <a:alpha val="6000"/>
            </a:srgbClr>
          </a:solidFill>
          <a:ln w="12700" cap="flat" cmpd="sng">
            <a:solidFill>
              <a:srgbClr val="F59E0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18500" y="2984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699500" y="2984500"/>
            <a:ext cx="292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78350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 Dockerfile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8318500" y="3429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构建镜像的“说明书”或脚本。通过简单的代码指令，自动化定义环境的构建步骤，实现镜像的可追溯、可复用与版本化管理。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508000" y="48260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高频实用命令速查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508000" y="5270500"/>
            <a:ext cx="2667000" cy="1079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35000" y="5397500"/>
            <a:ext cx="241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docker run [镜像名]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从镜像启动并运行一个新的容器，是最基础的启动命令。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3340100" y="5270500"/>
            <a:ext cx="2667000" cy="1079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3467100" y="5397500"/>
            <a:ext cx="241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docker build -t [名] .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根据当前目录的 Dockerfile 构建自定义镜像，-t 用于打标签。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6172200" y="5270500"/>
            <a:ext cx="2667000" cy="1079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299200" y="5397500"/>
            <a:ext cx="241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docker ps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列出当前正在运行的容器信息，加上 -a 可查看所有容器。</a:t>
            </a:r>
          </a:p>
        </p:txBody>
      </p:sp>
      <p:sp>
        <p:nvSpPr>
          <p:cNvPr id="30" name="AutoShape 30"/>
          <p:cNvSpPr/>
          <p:nvPr/>
        </p:nvSpPr>
        <p:spPr>
          <a:xfrm>
            <a:off x="9017000" y="5270500"/>
            <a:ext cx="2667000" cy="1079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9144000" y="5397500"/>
            <a:ext cx="241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docker exec -it [ID] bash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进入正在运行的容器内部，打开终端进行交互操作。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C2028">
                <a:alpha val="100000"/>
              </a:srgbClr>
            </a:gs>
            <a:gs pos="100000">
              <a:srgbClr val="0F1218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270000"/>
            <a:ext cx="5080000" cy="50800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Linux常用快捷键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270000"/>
            <a:ext cx="11176000" cy="812800"/>
          </a:xfrm>
          <a:prstGeom prst="roundRect">
            <a:avLst>
              <a:gd name="adj" fmla="val 0"/>
            </a:avLst>
          </a:prstGeom>
          <a:solidFill>
            <a:srgbClr val="F59E0B">
              <a:alpha val="12000"/>
            </a:srgbClr>
          </a:solidFill>
          <a:ln w="12700" cap="flat" cmpd="sng">
            <a:solidFill>
              <a:srgbClr val="F59E0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000" y="14224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CD34D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核心结论：掌握这些高频快捷键，能减少80%的重复敲击，让命令行操作效率翻倍，是开发者与运维人员的必备提速神器。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349500"/>
            <a:ext cx="3556000" cy="12192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08000" y="2349500"/>
            <a:ext cx="50800" cy="1219200"/>
          </a:xfrm>
          <a:prstGeom prst="roundRect">
            <a:avLst>
              <a:gd name="adj" fmla="val 0"/>
            </a:avLst>
          </a:prstGeom>
          <a:solidFill>
            <a:srgbClr val="22D3E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85800" y="2438400"/>
            <a:ext cx="3302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22D3EE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Tab 自动补全 (神器)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5E7EB">
                    <a:alpha val="80000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输入命令或文件名时按一次补全，按两次列出所有匹配项，彻底告别手动输错的烦恼。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08000" y="3695700"/>
            <a:ext cx="3556000" cy="12192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08000" y="3695700"/>
            <a:ext cx="50800" cy="1219200"/>
          </a:xfrm>
          <a:prstGeom prst="roundRect">
            <a:avLst>
              <a:gd name="adj" fmla="val 0"/>
            </a:avLst>
          </a:prstGeom>
          <a:solidFill>
            <a:srgbClr val="F8717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85800" y="3784600"/>
            <a:ext cx="3302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8717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Ctrl + C 强制终止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5E7EB">
                    <a:alpha val="80000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当程序卡死、跑飞或陷入死循环时，按下即刻夺回终端控制权，是中断进程的救命键。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08000" y="5041900"/>
            <a:ext cx="3556000" cy="12192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08000" y="5041900"/>
            <a:ext cx="50800" cy="1219200"/>
          </a:xfrm>
          <a:prstGeom prst="roundRect">
            <a:avLst>
              <a:gd name="adj" fmla="val 0"/>
            </a:avLst>
          </a:prstGeom>
          <a:solidFill>
            <a:srgbClr val="A78B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85800" y="5130800"/>
            <a:ext cx="3302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A78BF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Ctrl + L 快速清屏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5E7EB">
                    <a:alpha val="80000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一键清空当前终端屏幕，效果等同于输入 clear 命令，让杂乱的输出瞬间整洁。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318000" y="2349500"/>
            <a:ext cx="3556000" cy="12192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318000" y="2349500"/>
            <a:ext cx="50800" cy="1219200"/>
          </a:xfrm>
          <a:prstGeom prst="roundRect">
            <a:avLst>
              <a:gd name="adj" fmla="val 0"/>
            </a:avLst>
          </a:prstGeom>
          <a:solidFill>
            <a:srgbClr val="34D3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4495800" y="2438400"/>
            <a:ext cx="3302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34D39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Ctrl + D 退出终端/环境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5E7EB">
                    <a:alpha val="80000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优雅退出当前Shell会话或Python/MySQL等交互环境，比手动输入 exit 更便捷。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4318000" y="3695700"/>
            <a:ext cx="3556000" cy="12192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4318000" y="3695700"/>
            <a:ext cx="50800" cy="1219200"/>
          </a:xfrm>
          <a:prstGeom prst="roundRect">
            <a:avLst>
              <a:gd name="adj" fmla="val 0"/>
            </a:avLst>
          </a:prstGeom>
          <a:solidFill>
            <a:srgbClr val="FBBF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4495800" y="3784600"/>
            <a:ext cx="3302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BBF2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Ctrl + A 跳至行首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5E7EB">
                    <a:alpha val="80000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输入长命令后发现开头少加参数？按下此键瞬间回到行首，告别反复按左方向键。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4318000" y="5041900"/>
            <a:ext cx="3556000" cy="12192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4318000" y="5041900"/>
            <a:ext cx="50800" cy="1219200"/>
          </a:xfrm>
          <a:prstGeom prst="roundRect">
            <a:avLst>
              <a:gd name="adj" fmla="val 0"/>
            </a:avLst>
          </a:prstGeom>
          <a:solidFill>
            <a:srgbClr val="FBBF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4495800" y="5130800"/>
            <a:ext cx="3302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BBF2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Ctrl + E 跳至行尾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5E7EB">
                    <a:alpha val="80000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与 Ctrl+A 对应，一键将光标瞬移到命令行末尾，方便追加文件名或参数。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8128000" y="2349500"/>
            <a:ext cx="3556000" cy="12192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8128000" y="2349500"/>
            <a:ext cx="50800" cy="1219200"/>
          </a:xfrm>
          <a:prstGeom prst="roundRect">
            <a:avLst>
              <a:gd name="adj" fmla="val 0"/>
            </a:avLst>
          </a:prstGeom>
          <a:solidFill>
            <a:srgbClr val="F472B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8305800" y="2438400"/>
            <a:ext cx="3302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472B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Ctrl + U 清空光标前内容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5E7EB">
                    <a:alpha val="80000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命令输错了？不用按退格键逐个删除，一键清空光标前所有字符，效率提升十倍。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8128000" y="3695700"/>
            <a:ext cx="3556000" cy="12192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8128000" y="3695700"/>
            <a:ext cx="50800" cy="1219200"/>
          </a:xfrm>
          <a:prstGeom prst="roundRect">
            <a:avLst>
              <a:gd name="adj" fmla="val 0"/>
            </a:avLst>
          </a:prstGeom>
          <a:solidFill>
            <a:srgbClr val="38BDF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8305800" y="3784600"/>
            <a:ext cx="3302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Ctrl + R 搜索历史命令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5E7EB">
                    <a:alpha val="80000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反向搜索历史记录，输入关键词即可快速召回复杂命令，无需重新拼写。</a:t>
            </a:r>
          </a:p>
        </p:txBody>
      </p:sp>
      <p:sp>
        <p:nvSpPr>
          <p:cNvPr id="31" name="AutoShape 31"/>
          <p:cNvSpPr/>
          <p:nvPr/>
        </p:nvSpPr>
        <p:spPr>
          <a:xfrm>
            <a:off x="8128000" y="5041900"/>
            <a:ext cx="3556000" cy="12192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8128000" y="5041900"/>
            <a:ext cx="50800" cy="1219200"/>
          </a:xfrm>
          <a:prstGeom prst="roundRect">
            <a:avLst>
              <a:gd name="adj" fmla="val 0"/>
            </a:avLst>
          </a:prstGeom>
          <a:solidFill>
            <a:srgbClr val="D1D5D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8305800" y="5130800"/>
            <a:ext cx="3302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E5E7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history 历史回放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5E7EB">
                    <a:alpha val="80000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查看所有执行过的命令列表，使用 !数字 可直接重新运行对应编号的历史命令。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0" y="-1270000"/>
            <a:ext cx="5080000" cy="50800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F59E0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新手最容易踩的Linux坑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11176000" cy="635000"/>
          </a:xfrm>
          <a:prstGeom prst="roundRect">
            <a:avLst>
              <a:gd name="adj" fmla="val 0"/>
            </a:avLst>
          </a:prstGeom>
          <a:solidFill>
            <a:srgbClr val="F59E0B">
              <a:alpha val="15000"/>
            </a:srgbClr>
          </a:solidFill>
          <a:ln w="12700" cap="flat" cmpd="sng">
            <a:solidFill>
              <a:srgbClr val="F59E0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98500" y="1524000"/>
            <a:ext cx="1079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BBF2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这些坑我都亲身踩过，操作前多一秒思考，就能避免一整天的系统重装与数据丢失！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286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2476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2413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01. 高危删除：慎用 rm -rf (sudo慎点)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删库跑路的元凶！删除前务必用 ls 确认路径，该命令执行后数据无法恢复，root权限下更是毁灭性打击，切记“先看后删”。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08000" y="3429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500" y="3619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143000" y="3556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02. 系统篡改：别动核心目录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/etc、/usr 是系统命脉，随意修改配置或删除文件会直接导致系统崩溃。修改重要系统文件前，请务必先备份原文件。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08000" y="4572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500" y="4762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143000" y="4699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03. 权限滥用：拒绝日常用 Root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日常操作使用普通用户账号，仅在需要管理权限时通过 sudo 临时提权。Root 下的误操作会瞬间摧毁系统，且无任何挽回余地。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2286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3500" y="2476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58000" y="2413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04. 脚本盲跑：警惕 curl | bash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切勿直接执行网上复制的管道脚本！先将脚本下载到本地（curl xxx &gt; script.sh），查看源码确认无恶意代码后，再决定是否运行。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23000" y="3429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3500" y="3619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858000" y="3556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05. 格式陷阱：空格与大小写敏感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空格是命令参数分隔符，含空格路径需用引号包裹或反斜杠转义；Linux 严格区分大小写，Test.txt 和 test.txt 是两个完全不同的文件。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223000" y="4572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13500" y="4762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858000" y="4699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E2E8F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06. 拒绝躺平：遇错别急着重装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报错是最好的学习机会！大部分问题（如依赖缺失、配置错误）都能通过日志排查和搜索引擎解决，盲目重装会让你错过核心知识的积累。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508000" y="5969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🚀 新手进阶心法：对系统保持敬畏之心，操作前先思考，善用 man 手册与搜索引擎，把每一次报错都变成成长的垫脚石。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怎么排查Linux常见问题？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11176000" cy="635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000" y="1524000"/>
            <a:ext cx="1092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E40A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核心心法：按步骤逐一排查，结合报错信息搜索，99%的问题已有成熟解决方案！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286000"/>
            <a:ext cx="54610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2476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06500" y="23876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01. 先读报错信息（最重要）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90%的问题原因直接写在终端输出中，不要慌！提取 Error/Failed 等关键词，这是最高效的线索来源。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08000" y="3454400"/>
            <a:ext cx="54610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500" y="36449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06500" y="3556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02. 权限拒绝 (Permission denied)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解法：① 前缀加 sudo 临时提权；② 用 chmod 修改文件权限，或 chown 变更文件所有者。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08000" y="4622800"/>
            <a:ext cx="54610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500" y="48133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206500" y="47244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03. 命令未找到 (command not found)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排查：① 软件未安装（apt/yum 安装）；② 程序路径未加入 $PATH，尝试用绝对路径执行。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2286000"/>
            <a:ext cx="54610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3500" y="2476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21500" y="23876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04. 端口占用 (Address in use)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命令：lsof -i:端口号 或 netstat -tunlp 找到PID；执行 kill -9 PID 强制终止占用进程。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23000" y="3454400"/>
            <a:ext cx="54610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3500" y="36449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21500" y="3556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05. 磁盘空间不足 (No space left)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诊断：df -h 看磁盘总览，du -sh * 定位大文件；清理 /var/log 日志或无用的临时文件。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223000" y="4622800"/>
            <a:ext cx="5461000" cy="10414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13500" y="48133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21500" y="47244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06. 网络不通 &amp; 依赖缺失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网络：ping 测连通，telnet 验端口，ufw status 查防火墙；依赖：apt install -f 自动修复缺失包。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508000" y="5842000"/>
            <a:ext cx="11176000" cy="6096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35000" y="5943600"/>
            <a:ext cx="1092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🚀 排查捷径：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遇到疑难杂症，直接复制完整报错信息去 StackOverflow 或 Google 搜索，开源社区的智慧远比想象中更强大！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F172A">
                <a:alpha val="100000"/>
              </a:srgbClr>
            </a:gs>
            <a:gs pos="100000">
              <a:srgbClr val="1E293B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270000"/>
            <a:ext cx="3810000" cy="38100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10B98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81000" y="381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AI辅助Linux使用提示词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381000" y="1206500"/>
            <a:ext cx="11430000" cy="635000"/>
          </a:xfrm>
          <a:prstGeom prst="roundRect">
            <a:avLst>
              <a:gd name="adj" fmla="val 0"/>
            </a:avLst>
          </a:prstGeom>
          <a:solidFill>
            <a:srgbClr val="3B82F6">
              <a:alpha val="15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08000" y="12954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93C5FD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核心心法：拒绝死记硬背命令！记住需求场景，让AI生成指令、解释参数，你只需读懂逻辑并把控风险。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81000" y="2095500"/>
            <a:ext cx="5524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" y="2286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016000" y="22606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 精准命令生成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71500" y="2730500"/>
            <a:ext cx="5143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模板：“我在Linux要实现【功能：如查找并删除当前目录&gt;100M的py文件】，请给具体命令，逐一解释参数含义，并说明潜在风险。”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159500" y="2095500"/>
            <a:ext cx="5524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2286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794500" y="22606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472B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 智能报错诊断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350000" y="2730500"/>
            <a:ext cx="5143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模板：“运行【命令】时报错：【粘贴具体信息】，我已尝试【操作】，请分析根因，并给分步排查修复方案。”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81000" y="3937000"/>
            <a:ext cx="5524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500" y="4127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016000" y="41021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A78BF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 自动化脚本编写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571500" y="4572000"/>
            <a:ext cx="5143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模板：“帮我写个Shell脚本实现【功能：如批量压缩图片至70%质量】，要求加详细注释，说明执行步骤、权限及注意事项。”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159500" y="3937000"/>
            <a:ext cx="5524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0000" y="4127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794500" y="41021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34D39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 命令深度拆解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350000" y="4572000"/>
            <a:ext cx="5143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模板：“请详细解析这个命令：【粘贴命令】，拆解每一个参数的作用、可选值、使用场景，以及生产环境中的避坑指南。”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381000" y="5778500"/>
            <a:ext cx="11430000" cy="762000"/>
          </a:xfrm>
          <a:prstGeom prst="roundRect">
            <a:avLst>
              <a:gd name="adj" fmla="val 0"/>
            </a:avLst>
          </a:prstGeom>
          <a:solidFill>
            <a:srgbClr val="EF4444">
              <a:alpha val="12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1500" y="6019800"/>
            <a:ext cx="279400" cy="279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016000" y="5905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FCA5A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安全红线：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FCA5A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AI生成的命令务必先理解参数含义，高危操作（如rm -rf、系统配置修改）请先在测试环境验证，建议在脚本中增加交互确认步骤，切勿盲目执行！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2563E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F59E0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推荐的Linux学习资源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11176000" cy="889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1587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核心心法：拒绝死啃厚书，边用边学才是掌握Linux的最快捷径！它只是一个工具，正如Windows一样，使用频率决定熟练程度。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540000"/>
            <a:ext cx="3556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2730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2730500"/>
            <a:ext cx="273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 经典入门 · 按需查阅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98500" y="3175000"/>
            <a:ext cx="317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首选《鸟哥的Linux私房菜》基础篇，无需通读背诵。把它当作工具书，遇到具体配置或概念困惑时再针对性查阅，效率远超盲目啃书。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318000" y="2540000"/>
            <a:ext cx="3556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8500" y="2730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953000" y="2730500"/>
            <a:ext cx="273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 在线实战 · 交互式学习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508500" y="3175000"/>
            <a:ext cx="317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推荐 Linux Journey 免费教程，提供浏览器内的真实命令行环境。从文件系统到权限管理，边敲代码边理解，告别枯燥的理论灌输。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128000" y="2540000"/>
            <a:ext cx="3556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18500" y="2730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763000" y="2730500"/>
            <a:ext cx="273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 权威手册 · 即用即查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318500" y="3175000"/>
            <a:ext cx="317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忘记命令时，man 手册是最权威的答案；嫌内容太繁琐？试试 tldr，它提炼了最实用的命令案例，帮你快速解决日常使用中的90%问题。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08000" y="4635500"/>
            <a:ext cx="5461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500" y="4826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143000" y="4826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 沉浸式体验：把 Ubuntu 当主力机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98500" y="5270500"/>
            <a:ext cx="508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这是最高效的方法！安装 Ubuntu 作为日常办公系统，停用 Windows 一个月。无论是写代码、查资料还是娱乐，强迫自己在 Linux 环境下完成，一个月后你将自然形成操作直觉。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223000" y="4635500"/>
            <a:ext cx="5461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3500" y="48260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858000" y="4826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05 聚焦核心：拒绝贪多嚼不烂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413500" y="5270500"/>
            <a:ext cx="508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无需掌握所有偏门命令或复杂的运维操作。作为 AI/机器人工程师，常用命令仅几十个（如文件操作、权限、进程管理）。专注高频场景，用得多了自然就记住了，不必焦虑。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本模块常见问题FAQ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1430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你想问的都在这里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08000" y="1651000"/>
            <a:ext cx="5461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18415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0000" y="1778000"/>
            <a:ext cx="4508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Q：Windows/macOS能用吗？必须装Linux吗？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A：入门阶段完全可用。进阶开发（如ROS2、大模型部署）建议使用Linux双系统或WSL2；macOS作为类Unix系统，命令行体验与Linux高度一致，也很适合开发。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508000" y="3238500"/>
            <a:ext cx="5461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500" y="3429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270000" y="3365500"/>
            <a:ext cx="4508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Q：需要死记硬背所有Linux命令吗？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A：完全不用！高频命令在实践中自然熟练，低频命令现查手册或借助AI工具即可。重点是理解命令的逻辑与参数含义，而非机械记忆。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08000" y="4826000"/>
            <a:ext cx="5461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500" y="5016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270000" y="4953000"/>
            <a:ext cx="4508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Q：Linux有图形界面吗？开发用哪个？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A：有，Ubuntu等主流发行版默认集成图形界面，适合日常操作。但在开发场景下，命令行（CLI）执行效率更高，是开发者的核心工作环境。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223000" y="1651000"/>
            <a:ext cx="5461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3500" y="19050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1841500"/>
            <a:ext cx="45085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Q：不小心删了系统文件或重要代码怎么办？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A：若为关键系统文件，可能需要重装系统。因此，核心代码务必托管到Git仓库（如GitHub/Gitee），拒绝仅本地保存，养成“先提交、后修改”的习惯，确保代码可追溯、可恢复。这是开发者的必备安全防线。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6223000" y="3810000"/>
            <a:ext cx="5461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3500" y="40640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4000500"/>
            <a:ext cx="45085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Q：WSL2能完全替代实体Linux系统吗？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A：入门学习和轻量级开发完全够用，能快速搭建Linux环境。但涉及机器人硬件驱动、外设直连或对实时性要求高的场景时，WSL2对硬件的支持有限，建议使用实体Ubuntu系统以获得完整的兼容性与性能。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381000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本模块小结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206500"/>
            <a:ext cx="11176000" cy="8128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98500" y="13589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核心结论：</a:t>
            </a:r>
            <a:r>
              <a: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计算机基础是所有技术的“地基”。这些看似基础的命令与原理，是后续编写代码、部署项目、排查问题的高频刚需，打牢基础能让技术进阶速度翻倍。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286000"/>
            <a:ext cx="3556000" cy="965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2476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079500" y="2413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01. Linux 核心认知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机器人与AI的标准OS，掌握命令行是效率的起点。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08000" y="3352800"/>
            <a:ext cx="3556000" cy="965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500" y="35433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079500" y="34798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02. 文件系统与操作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理解目录树结构，熟练运用10+高频文件命令。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08000" y="4419600"/>
            <a:ext cx="3556000" cy="965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500" y="46101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079500" y="45466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03. 权限体系解析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彻底解决Permission Denied，掌控用户与组的权限。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508000" y="5486400"/>
            <a:ext cx="3556000" cy="965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500" y="56769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079500" y="56134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04. APT 包管理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软件安装、卸载与更新的标准化管理工具。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4318000" y="2286000"/>
            <a:ext cx="3556000" cy="965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08500" y="2476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4889500" y="2413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05. 进程与资源管控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ps/top查看状态，kill终止进程，监控系统资源。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4318000" y="3352800"/>
            <a:ext cx="3556000" cy="965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08500" y="35433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4889500" y="34798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06. SSH 远程运维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免密登录配置，远程操控服务器与机器人终端。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4318000" y="4419600"/>
            <a:ext cx="3556000" cy="965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08500" y="46101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4889500" y="45466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07. 高效文本工具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grep精准检索，vim快速编辑，处理日志与代码。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4318000" y="5486400"/>
            <a:ext cx="3556000" cy="965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508500" y="56769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4889500" y="56134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08. Shell 脚本入门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编写自动化脚本，批量处理任务，释放生产力。</a:t>
            </a:r>
          </a:p>
        </p:txBody>
      </p:sp>
      <p:sp>
        <p:nvSpPr>
          <p:cNvPr id="31" name="AutoShape 31"/>
          <p:cNvSpPr/>
          <p:nvPr/>
        </p:nvSpPr>
        <p:spPr>
          <a:xfrm>
            <a:off x="8128000" y="2286000"/>
            <a:ext cx="3556000" cy="965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318500" y="2476500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8699500" y="24130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09. 计算机网络核心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理解IP地址、端口号，掌握TCP/UDP通信原理。</a:t>
            </a:r>
          </a:p>
        </p:txBody>
      </p:sp>
      <p:sp>
        <p:nvSpPr>
          <p:cNvPr id="34" name="AutoShape 34"/>
          <p:cNvSpPr/>
          <p:nvPr/>
        </p:nvSpPr>
        <p:spPr>
          <a:xfrm>
            <a:off x="8128000" y="3352800"/>
            <a:ext cx="3556000" cy="965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318500" y="3543300"/>
            <a:ext cx="304800" cy="3048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8699500" y="34798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10. 操作系统原理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进程线程调度、内存管理，洞悉系统运行机制。</a:t>
            </a:r>
          </a:p>
        </p:txBody>
      </p:sp>
      <p:sp>
        <p:nvSpPr>
          <p:cNvPr id="37" name="AutoShape 37"/>
          <p:cNvSpPr/>
          <p:nvPr/>
        </p:nvSpPr>
        <p:spPr>
          <a:xfrm>
            <a:off x="8128000" y="4419600"/>
            <a:ext cx="3556000" cy="965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318500" y="4610100"/>
            <a:ext cx="304800" cy="3048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8699500" y="45466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11. 环境变量配置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配置PATH解决“找不到命令”，定制开发环境。</a:t>
            </a:r>
          </a:p>
        </p:txBody>
      </p:sp>
      <p:sp>
        <p:nvSpPr>
          <p:cNvPr id="40" name="AutoShape 40"/>
          <p:cNvSpPr/>
          <p:nvPr/>
        </p:nvSpPr>
        <p:spPr>
          <a:xfrm>
            <a:off x="8128000" y="5486400"/>
            <a:ext cx="3556000" cy="9652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318500" y="5676900"/>
            <a:ext cx="304800" cy="304800"/>
          </a:xfrm>
          <a:prstGeom prst="rect">
            <a:avLst/>
          </a:prstGeom>
        </p:spPr>
      </p:pic>
      <p:sp>
        <p:nvSpPr>
          <p:cNvPr id="42" name="AutoShape 42"/>
          <p:cNvSpPr/>
          <p:nvPr/>
        </p:nvSpPr>
        <p:spPr>
          <a:xfrm>
            <a:off x="8699500" y="5613400"/>
            <a:ext cx="292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12. Docker 与虚拟环境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环境隔离、快速部署，彻底解决“环境不一致”难题。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635000"/>
            <a:ext cx="2540000" cy="254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635000" y="5334000"/>
            <a:ext cx="1905000" cy="1905000"/>
          </a:xfrm>
          <a:prstGeom prst="ellipse">
            <a:avLst/>
          </a:prstGeom>
          <a:solidFill>
            <a:srgbClr val="F59E0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课后练习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98500" y="1549400"/>
            <a:ext cx="1079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核心心法：动手练，才是真的学会了！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拒绝死记硬背，边实操边查阅文档，遇到问题解决问题，坚持一周即可熟练掌握Linux开发环境。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413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26416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70000" y="2540000"/>
            <a:ext cx="457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01. 开发环境一键搭建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安装Ubuntu系统（或Windows WSL2），配置Python解释器、Git版本控制工具及VS Code编辑器，打通基础开发工具链。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08000" y="3683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500" y="39116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70000" y="3810000"/>
            <a:ext cx="457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02. 终端文件命令实操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熟练掌握mkdir、touch、cp、mv、rm、cat等高频指令，完成目录创建、文件增删改查及内容查看的基础操作。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08000" y="4953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500" y="51816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270000" y="5080000"/>
            <a:ext cx="457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03. 远程连接与文件传输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通过SSH协议无密码登录远程服务器或机器人，使用SCP命令实现本地与远程主机之间的安全文件传输。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2413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3500" y="26416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2540000"/>
            <a:ext cx="457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B4530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04. Shell 自动化脚本编写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编写脚本实现自动化：批量扫描并将当前目录下的所有 .txt 文件备份到新建的 backup 文件夹，掌握循环逻辑。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23000" y="3683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3500" y="39116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3810000"/>
            <a:ext cx="457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B4530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05. Python 虚拟环境与依赖管理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创建独立的 Python 虚拟环境，安装 NumPy 与 Pandas 数据分析库，并导出 requirements.txt 锁定项目依赖。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223000" y="4953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13500" y="51816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85000" y="5080000"/>
            <a:ext cx="457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B4530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06. Docker 容器化技术初探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拉取官方 Ubuntu 或 Python 镜像，启动容器并进入交互终端，探索容器内的隔离环境与基础目录结构。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62C">
                <a:alpha val="100000"/>
              </a:srgbClr>
            </a:gs>
            <a:gs pos="100000">
              <a:srgbClr val="172554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270000"/>
            <a:ext cx="5080000" cy="5080000"/>
          </a:xfrm>
          <a:prstGeom prst="ellipse">
            <a:avLst/>
          </a:prstGeom>
          <a:solidFill>
            <a:srgbClr val="38BDF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8B5C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762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Part 02 </a:t>
            </a:r>
            <a:r>
              <a:rPr kumimoji="0" lang="en-US" sz="44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编程能力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0" y="1905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CBD5E1">
                    <a:alpha val="80000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“写出干净、可维护、能跑的代码，是开发者的基本素养”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71500" y="2794000"/>
            <a:ext cx="266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5500" y="3048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30734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7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 Python 核心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683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2E8F0">
                    <a:alpha val="60000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深入掌握语言特性，熟练运用面向对象与函数式编程范式，构建简洁高效的逻辑基础，避免常见的语法陷阱。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3365500" y="2794000"/>
            <a:ext cx="266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19500" y="3048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127500" y="30734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7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 工程规范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556000" y="3683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2E8F0">
                    <a:alpha val="60000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统一代码风格、注释规范与目录结构，引入代码审查机制，建立可维护的开发标准，降低团队协作成本。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159500" y="2794000"/>
            <a:ext cx="266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3048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21500" y="30734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7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 Git 版本管理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350000" y="3683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2E8F0">
                    <a:alpha val="60000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熟练运用分支策略、合并请求与版本追溯，保障代码版本的安全与可回溯，实现高效的并行开发流程。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953500" y="2794000"/>
            <a:ext cx="2667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2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07500" y="3048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715500" y="30734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7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 调试与优化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9144000" y="3683000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E2E8F0">
                    <a:alpha val="60000"/>
                  </a:srgbClr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利用专业工具快速定位 Bug，分析内存与性能瓶颈，掌握单元测试编写，确保代码的健壮性与稳定性。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0" y="5778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📚 本模块共 25 页核心内容 • 重点掌握：代码质量规范、协作流管理与问题排查思维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为什么机器人/AI首选Python？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Python凭借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极简的语法设计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无敌的生态系统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，成为人工智能与机器人领域的「第一语言」，完美平衡了开发效率与工程落地的需求。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08000" y="2413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cap="flat" cmpd="sng">
            <a:solidFill>
              <a:srgbClr val="1F67DD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2603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143000" y="25654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 语法极简 · 极速上手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98500" y="3048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代码量仅为C++的1/3到1/5，语法接近自然语言。能快速将创意转化为可运行的原型，大幅降低试错成本与入门门槛。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318000" y="2413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cap="flat" cmpd="sng">
            <a:solidFill>
              <a:srgbClr val="00A06B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8500" y="2603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953000" y="25654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65F4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 生态霸主 · 框架全揽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508500" y="3048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AI领域覆盖PyTorch、TensorFlow，机器人领域完美支持ROS2，各类工具库应有尽有，无需重复造轮子，站在巨人肩膀上开发。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2413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59E0B">
              <a:alpha val="8000"/>
            </a:srgbClr>
          </a:solidFill>
          <a:ln cap="flat" cmpd="sng">
            <a:solidFill>
              <a:srgbClr val="DC8A00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18500" y="2603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63000" y="25654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 软硬兼施 · 极致扩展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318500" y="3048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上层逻辑用Python快速构建，底层性能瓶颈（如图像处理、控制算法）可用C++编写并被Python调用，兼顾开发速度与运行效率。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508000" y="4318000"/>
            <a:ext cx="5461000" cy="1460500"/>
          </a:xfrm>
          <a:prstGeom prst="roundRect">
            <a:avLst>
              <a:gd name="adj" fmla="val 0"/>
            </a:avLst>
          </a:prstGeom>
          <a:solidFill>
            <a:srgbClr val="8B5CF6">
              <a:alpha val="8000"/>
            </a:srgbClr>
          </a:solidFill>
          <a:ln cap="flat" cmpd="sng">
            <a:solidFill>
              <a:srgbClr val="6D3CDD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500" y="4508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143000" y="44704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5B21B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 社区繁荣 · 资源海量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98500" y="4953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拥有全球最活跃的开发者社区，遇到问题能迅速找到解决方案。海量的开源项目、教程与文档，是新手自学与团队协作的最佳土壤。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223000" y="4318000"/>
            <a:ext cx="5461000" cy="1460500"/>
          </a:xfrm>
          <a:prstGeom prst="roundRect">
            <a:avLst>
              <a:gd name="adj" fmla="val 0"/>
            </a:avLst>
          </a:prstGeom>
          <a:solidFill>
            <a:srgbClr val="EF4444">
              <a:alpha val="8000"/>
            </a:srgbClr>
          </a:solidFill>
          <a:ln cap="flat" cmpd="sng">
            <a:solidFill>
              <a:srgbClr val="D52727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3500" y="4508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858000" y="44704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991B1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05 行业刚需 · 就业敲门砖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413500" y="4953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无论是CV/NLP算法岗，还是机器人控制、SLAM开发，Python都是企业招聘的必考技能。熟练掌握Python，是进入智能科技行业的硬性门槛。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508000" y="5969000"/>
            <a:ext cx="11176000" cy="508000"/>
          </a:xfrm>
          <a:prstGeom prst="roundRect">
            <a:avLst>
              <a:gd name="adj" fmla="val 0"/>
            </a:avLst>
          </a:prstGeom>
          <a:solidFill>
            <a:srgbClr val="1E3A8A">
              <a:alpha val="5000"/>
            </a:srgbClr>
          </a:solidFill>
          <a:ln w="12700" cap="flat" cmpd="sng">
            <a:solidFill>
              <a:srgbClr val="1E3A8A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35000" y="6070600"/>
            <a:ext cx="1092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学习建议：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先学Python快速上手并做出成果获得正反馈，建立信心；待熟练掌握逻辑后，再进阶学习C++以应对底层开发与高性能计算需求。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3810000" cy="381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9652000" y="4318000"/>
            <a:ext cx="5080000" cy="5080000"/>
          </a:xfrm>
          <a:prstGeom prst="ellipse">
            <a:avLst/>
          </a:prstGeom>
          <a:solidFill>
            <a:srgbClr val="F59E0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Python核心：你真正需要掌握的语法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3335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000" y="14605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核心洞察：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日常开发仅需掌握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20%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的核心语法，即可应对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90%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的业务需求，无需贪多求全，边用边学效率更高。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349500"/>
            <a:ext cx="5461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2540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06500" y="2476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 基础数据与四大结构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掌握整数、字符串、布尔值等基础类型；熟练运用 List（动态数组）、Dict（键值映射）、Tuple（不可变序列）与 Set（去重集合），这是处理数据的基石。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08000" y="3683000"/>
            <a:ext cx="5461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500" y="3873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06500" y="3810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 逻辑与流程控制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用 if/else 实现条件判断，for/while 完成循环遍历；配合 break/continue 控制节奏，enumerate 与 range 是遍历数据的高效利器。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08000" y="5016500"/>
            <a:ext cx="5461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500" y="5207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206500" y="5143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 函数：代码复用的灵魂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def 定义函数实现模块化，掌握参数传递与返回值设计；灵活使用 *args/**kwargs 处理动态参数，lambda 匿名函数简化简单逻辑。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2349500"/>
            <a:ext cx="5461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3500" y="2540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21500" y="2476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 面向对象核心 (OOP)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class 定义类，__init__ 初始化对象；理解 self 关键字与继承机制，实现代码的封装、继承与多态，构建可扩展的复杂系统。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23000" y="3683000"/>
            <a:ext cx="5461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3500" y="3873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21500" y="38100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05 数据持久化与文件IO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使用 with open 上下文管理器安全读写文件，自动管理资源；熟练掌握读(r)、写(w)、追加(a)等模式，轻松实现数据的本地存储。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223000" y="5016500"/>
            <a:ext cx="5461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13500" y="52070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21500" y="51435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06 异常处理：程序的"安全气囊"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通过 try/except 捕获运行时错误，防止程序意外崩溃；合理使用 finally 做清理工作，让代码在面对异常时依然稳健可靠。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>
                <a:alpha val="100000"/>
              </a:srgbClr>
            </a:gs>
            <a:gs pos="100000">
              <a:srgbClr val="F1F5F9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175000" cy="3175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609600" y="508000"/>
            <a:ext cx="10972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Python必学常用库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09600" y="1206500"/>
            <a:ext cx="10972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这几个库是你天天都会用到的，掌握它们是开启Python高效开发与科研的必备钥匙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09600" y="1905000"/>
            <a:ext cx="25908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09600" y="1905000"/>
            <a:ext cx="25908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2095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20955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NumPy · 数值计算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2514600"/>
            <a:ext cx="2336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科学计算的基石，专为矩阵与数组运算设计。无论是AI张量操作、机器人点云处理还是图像底层数据，都离不开它的高效支持。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403600" y="1905000"/>
            <a:ext cx="25908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59E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403600" y="1905000"/>
            <a:ext cx="2590800" cy="508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56000" y="2095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3937000" y="20955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Matplotlib · 绘图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556000" y="2514600"/>
            <a:ext cx="2336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Python的绘图神器，支持折线、散点、柱状等多种图表。从实验数据可视化到学术论文配图，它是展示数据价值的最佳工具。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197600" y="1905000"/>
            <a:ext cx="25908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197600" y="1905000"/>
            <a:ext cx="25908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0000" y="2095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731000" y="20955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OpenCV · 机器视觉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350000" y="2514600"/>
            <a:ext cx="2336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跨平台的图像处理库，涵盖图像读写、滤波、特征提取及摄像头交互。是计算机视觉与机器人视觉开发的核心依赖。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8991600" y="1905000"/>
            <a:ext cx="25908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8B5C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8991600" y="1905000"/>
            <a:ext cx="2590800" cy="508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0" y="20955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525000" y="20955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Pandas · 数据分析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9144000" y="2514600"/>
            <a:ext cx="23368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处理表格数据的瑞士军刀，轻松解析CSV/Excel、清洗数据与统计分析。对于实验日志处理和数据报表生成极其高效。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09600" y="3937000"/>
            <a:ext cx="35052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C489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09600" y="3937000"/>
            <a:ext cx="3505200" cy="50800"/>
          </a:xfrm>
          <a:prstGeom prst="roundRect">
            <a:avLst>
              <a:gd name="adj" fmla="val 0"/>
            </a:avLst>
          </a:prstGeom>
          <a:solidFill>
            <a:srgbClr val="EC489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2000" y="41275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1168400" y="41275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PyYAML · 配置管理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762000" y="4546600"/>
            <a:ext cx="3200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专门用于解析YAML格式文件，广泛应用于ROS2机器人参数配置、项目环境变量设置及复杂配置文件的读写，让配置更易读。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4343400" y="3937000"/>
            <a:ext cx="35052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EA5E9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4343400" y="3937000"/>
            <a:ext cx="3505200" cy="50800"/>
          </a:xfrm>
          <a:prstGeom prst="roundRect">
            <a:avLst>
              <a:gd name="adj" fmla="val 0"/>
            </a:avLst>
          </a:prstGeom>
          <a:solidFill>
            <a:srgbClr val="0EA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95800" y="4127500"/>
            <a:ext cx="304800" cy="3048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4902200" y="41275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Tqdm · 进度可视化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4495800" y="4546600"/>
            <a:ext cx="3200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为循环和数据处理添加动态进度条，仅需一行代码即可提升脚本交互体验，让漫长的计算过程不再枯燥，实时掌握运行进度。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8077200" y="3937000"/>
            <a:ext cx="35052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11D4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8077200" y="3937000"/>
            <a:ext cx="3505200" cy="50800"/>
          </a:xfrm>
          <a:prstGeom prst="roundRect">
            <a:avLst>
              <a:gd name="adj" fmla="val 0"/>
            </a:avLst>
          </a:prstGeom>
          <a:solidFill>
            <a:srgbClr val="E11D4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229600" y="4127500"/>
            <a:ext cx="304800" cy="3048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8636000" y="41275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Requests · 网络请求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8229600" y="4546600"/>
            <a:ext cx="32004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优雅的HTTP库，极大简化了发送请求、调用API接口及下载文件的过程。相比urllib更加人性化，是爬虫与后端交互的首选。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609600" y="5969000"/>
            <a:ext cx="10972800" cy="508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" name="AutoShape 42"/>
          <p:cNvSpPr/>
          <p:nvPr/>
        </p:nvSpPr>
        <p:spPr>
          <a:xfrm>
            <a:off x="736600" y="6070600"/>
            <a:ext cx="107188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学习建议：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先通过实战项目熟练掌握这7个基础库的核心用法，后续根据领域需求（如深度学习、Web开发）再深入学习特定扩展库。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4F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代码规范 PEP8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270000"/>
            <a:ext cx="11176000" cy="8128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1397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核心认知：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代码是写给人看的，顺便给机器运行。遵守 PEP8 不仅是规范，更是提升团队协作效率的基础。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413000"/>
            <a:ext cx="5461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26797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24892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01. 缩进与行宽：整洁的基石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严格使用 4 个空格缩进（严禁 Tab 混用）；单行代码不超过 88 字符，过长时合理换行，拒绝横向滚动。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08000" y="3429000"/>
            <a:ext cx="5461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500" y="36957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143000" y="35052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02. 命名风格：见名知意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变量/函数用蛇形命名 (user_name)；类名用大驼峰 (UserProfile)；常量全大写 (MAX_RETRY)，拒绝拼音缩写。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08000" y="4445000"/>
            <a:ext cx="5461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500" y="47117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143000" y="45212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03. 空行分隔：呼吸感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顶层函数/类之间空两行；类内方法之间空一行；逻辑段落间空一行，利用留白区分代码模块，结构更清晰。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508000" y="5461000"/>
            <a:ext cx="5461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500" y="57277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143000" y="55372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04. 导入规范：有序不杂乱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按「标准库 → 第三方库 → 自定义模块」顺序分组导入，每组之间空一行；严禁使用 import * 污染命名空间。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23000" y="2413000"/>
            <a:ext cx="5461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3500" y="28067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858000" y="25146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05. 空格细节：可读性的关键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运算符两侧（=、+、*）、逗号后必须加空格；函数参数等号两侧不加空格。例如：a = b + c而非a=b+c，细节处体现代码的易读性。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223000" y="3746500"/>
            <a:ext cx="5461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13500" y="41402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858000" y="38481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06. 注释维护：代码的说明书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代码改动时务必同步更新注释，删除无效的过时注释。优先解释「为什么这么做」而非「做了什么」，让注释成为代码的活文档。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6223000" y="5080000"/>
            <a:ext cx="5461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13500" y="54737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858000" y="51816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07. 自动化工具：告别死记硬背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无需死记规则！使用 flake8 实时检查规范问题，用 black 自动格式化代码，配合 IDE 插件（如 PyCharm），让工具为你自动修正格式，效率翻倍。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F59E0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怎么写干净的代码？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333500"/>
            <a:ext cx="11176000" cy="635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cap="flat" cmpd="sng">
            <a:solidFill>
              <a:srgbClr val="1F67DD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000" y="1460500"/>
            <a:ext cx="1092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核心心法：简单 · 清晰 · 直接，是衡量代码质量的终极标准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2225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2413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06500" y="23114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01. 命名见名知意，拒绝抽象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摒弃 a/b/temp 等无意义符号，用 student_name 代替 s，让变量名成为最好的注释，一眼看懂用途。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08000" y="33655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500" y="3556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06500" y="34544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02. 函数短小精悍，单一职责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一个函数只做一件事，拒绝数百行的“大泥球”。超过50行请立即拆分，确保逻辑原子化，易读易改。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08000" y="45085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500" y="4699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206500" y="45974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03. 拒绝奇技淫巧，保持直白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代码是给人读的，不是炫技的舞台。宁可牺牲一点“效率”，也要保证逻辑简单直接，降低认知负担。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22225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3500" y="2413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21500" y="23114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04. DRY原则：消灭重复代码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重复超过两次的逻辑，必须封装成函数或工具类。遵循“一处修改，处处生效”，减少维护成本与Bug。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23000" y="33655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3500" y="3556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21500" y="34544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05. 扁平结构，减少嵌套层级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if/else 嵌套不超过3层，善用“提前return”减少缩进，让代码像流水一样从上到下，一目了然。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223000" y="45085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13500" y="46990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21500" y="45974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06. 拒绝魔法数字与裸异常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用 MAX_PIXEL=255 代替神秘数字；精准捕获具体异常，严禁裸露 except 吞掉错误，保留调试线索。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508000" y="5778500"/>
            <a:ext cx="11176000" cy="698500"/>
          </a:xfrm>
          <a:prstGeom prst="roundRect">
            <a:avLst>
              <a:gd name="adj" fmla="val 0"/>
            </a:avLst>
          </a:prstGeom>
          <a:solidFill>
            <a:srgbClr val="1F2937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35000" y="5905500"/>
            <a:ext cx="1092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程序员自测：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“如果是三个月后的我回头看这段代码，还能一眼看懂吗？如果是刚入职的同事，他需要花多久才能理解这段逻辑？” —— 代码的可读性，决定了团队的协作效率。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165D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为什么一定要用 Git？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11176000" cy="952500"/>
          </a:xfrm>
          <a:prstGeom prst="roundRect">
            <a:avLst>
              <a:gd name="adj" fmla="val 0"/>
            </a:avLst>
          </a:prstGeom>
          <a:solidFill>
            <a:srgbClr val="165DFF">
              <a:alpha val="8000"/>
            </a:srgbClr>
          </a:solidFill>
          <a:ln w="12700" cap="flat" cmpd="sng">
            <a:solidFill>
              <a:srgbClr val="165D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98500" y="1524000"/>
            <a:ext cx="1079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65D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核心认知：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Git 不仅是工具，更是程序员的「时光机」与「代码保险库」。它能彻底解决新手最头疼的三大问题：代码改乱无法回退、本地文件丢失、以及多人协作时的代码冲突。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603500"/>
            <a:ext cx="5461000" cy="1714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28575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2857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 版本回溯：代码的「后悔药」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3655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每次提交都会生成完整快照，无论改坏了功能还是引入新Bug，都能一键回滚到任意历史状态，彻底告别手动复制备份的繁琐。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2603500"/>
            <a:ext cx="5461000" cy="1714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8575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12000" y="2857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 云端备份：永不丢失的保障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477000" y="33655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推送到 GitHub/GitLab 等云端仓库，即使电脑损坏、丢失或更换设备，只需一行命令即可恢复全部代码，数据安全无虞。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08000" y="4508500"/>
            <a:ext cx="5461000" cy="1714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47625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97000" y="4762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 协作神器：团队开发的润滑剂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52705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自动处理多人并行开发的代码合并，智能标记冲突点，告别「你改完我覆盖」的混乱，让团队协作像单人开发一样顺畅高效。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4508500"/>
            <a:ext cx="5461000" cy="1714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476250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12000" y="4762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 自由实验：零成本的「沙盒」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477000" y="52705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创建独立分支大胆尝试新功能或修复Bug，实验失败直接删除分支，完全不影响主代码的稳定性，让创新和试错毫无负担。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Git核心概念和常用命令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270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E6F7FF">
              <a:alpha val="100000"/>
            </a:srgbClr>
          </a:solidFill>
          <a:ln w="12700" cap="flat" cmpd="sng">
            <a:solidFill>
              <a:srgbClr val="91D5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14986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143000" y="14224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核心结论：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日常开发只需掌握这10个高频命令，即可应对90%的版本管理与协作需求，无需死记硬背复杂指令。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08000" y="2286000"/>
            <a:ext cx="1117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 核心概念：理解Git的四大基石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08000" y="2730500"/>
            <a:ext cx="2667000" cy="11430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28829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079500" y="28829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仓库 (Repository)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60400" y="33020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项目的容器与版本数据库，是Git进行版本管理的根目录，记录所有文件的变更历史。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3340100" y="2730500"/>
            <a:ext cx="2667000" cy="11430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92500" y="28829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911600" y="28829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提交 (Commit)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3492500" y="33020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对当前代码的“快照存档”，每次提交都会生成一个唯一的版本节点，附带说明信息。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172200" y="2730500"/>
            <a:ext cx="2667000" cy="11430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24600" y="28829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743700" y="28829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分支 (Branch)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6324600" y="33020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平行的开发线路，主分支(main)通常保持稳定，新功能开发或修复在独立分支进行。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9004300" y="2730500"/>
            <a:ext cx="2667000" cy="11430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156700" y="28829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575800" y="28829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远程仓库 (Remote)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9156700" y="3302000"/>
            <a:ext cx="241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托管在云端的仓库副本（如GitHub/GitLab），用于代码备份、共享及团队协作开发。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508000" y="4191000"/>
            <a:ext cx="1117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 常用命令：高频操作速查表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508000" y="4635500"/>
            <a:ext cx="5461000" cy="4572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508000" y="4635500"/>
            <a:ext cx="50800" cy="457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35000" y="4660900"/>
            <a:ext cx="5270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01. git init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- 初始化本地仓库，在当前目录创建.git隐藏文件夹，开启版本追踪。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508000" y="5092700"/>
            <a:ext cx="5461000" cy="4572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508000" y="5092700"/>
            <a:ext cx="50800" cy="457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635000" y="5118100"/>
            <a:ext cx="5270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02. git add [file/.]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- 将工作区修改加入暂存区，“.”代表添加所有改动的文件。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508000" y="5549900"/>
            <a:ext cx="5461000" cy="4572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508000" y="5549900"/>
            <a:ext cx="50800" cy="457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635000" y="5575300"/>
            <a:ext cx="5270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03. git commit -m "msg"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- 提交暂存区代码，msg需清晰描述本次修改内容。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508000" y="6007100"/>
            <a:ext cx="5461000" cy="4572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508000" y="6007100"/>
            <a:ext cx="50800" cy="457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635000" y="6032500"/>
            <a:ext cx="5270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04. git status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- 查看当前仓库状态，显示未跟踪、已修改或已暂存的文件。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6223000" y="4635500"/>
            <a:ext cx="5461000" cy="4572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9" name="AutoShape 39"/>
          <p:cNvSpPr/>
          <p:nvPr/>
        </p:nvSpPr>
        <p:spPr>
          <a:xfrm>
            <a:off x="6223000" y="4635500"/>
            <a:ext cx="50800" cy="457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6350000" y="4660900"/>
            <a:ext cx="5270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05. git log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- 查看项目提交历史记录，包括作者、日期、版本号及提交说明。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6223000" y="5092700"/>
            <a:ext cx="5461000" cy="4572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2" name="AutoShape 42"/>
          <p:cNvSpPr/>
          <p:nvPr/>
        </p:nvSpPr>
        <p:spPr>
          <a:xfrm>
            <a:off x="6223000" y="5092700"/>
            <a:ext cx="50800" cy="457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3" name="AutoShape 43"/>
          <p:cNvSpPr/>
          <p:nvPr/>
        </p:nvSpPr>
        <p:spPr>
          <a:xfrm>
            <a:off x="6350000" y="5118100"/>
            <a:ext cx="5270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06. git diff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- 对比工作区与暂存区，或不同版本之间的代码具体差异内容。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4" name="AutoShape 44"/>
          <p:cNvSpPr/>
          <p:nvPr/>
        </p:nvSpPr>
        <p:spPr>
          <a:xfrm>
            <a:off x="6223000" y="5549900"/>
            <a:ext cx="5461000" cy="4572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5" name="AutoShape 45"/>
          <p:cNvSpPr/>
          <p:nvPr/>
        </p:nvSpPr>
        <p:spPr>
          <a:xfrm>
            <a:off x="6223000" y="5549900"/>
            <a:ext cx="50800" cy="457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6" name="AutoShape 46"/>
          <p:cNvSpPr/>
          <p:nvPr/>
        </p:nvSpPr>
        <p:spPr>
          <a:xfrm>
            <a:off x="6350000" y="5575300"/>
            <a:ext cx="5270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07. git branch / switch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- 管理分支列表或创建分支；switch用于切换到指定分支。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7" name="AutoShape 47"/>
          <p:cNvSpPr/>
          <p:nvPr/>
        </p:nvSpPr>
        <p:spPr>
          <a:xfrm>
            <a:off x="6223000" y="6007100"/>
            <a:ext cx="5461000" cy="4572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8" name="AutoShape 48"/>
          <p:cNvSpPr/>
          <p:nvPr/>
        </p:nvSpPr>
        <p:spPr>
          <a:xfrm>
            <a:off x="6223000" y="6007100"/>
            <a:ext cx="50800" cy="457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9" name="AutoShape 49"/>
          <p:cNvSpPr/>
          <p:nvPr/>
        </p:nvSpPr>
        <p:spPr>
          <a:xfrm>
            <a:off x="6350000" y="6032500"/>
            <a:ext cx="5270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08. git merge / push / pull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- 合并分支；将本地代码推送到远程；从远程拉取最新代码到本地。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635000"/>
            <a:ext cx="2540000" cy="254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635000" y="5715000"/>
            <a:ext cx="1905000" cy="1905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科学Debug方法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98500" y="1549400"/>
            <a:ext cx="1079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核心心法：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拒绝「瞎改试错」，遵循逻辑闭环。90%的Bug源于基础疏忽，结构化的排查流程远比盲目修改更高效，耐心定位是解决问题的捷径。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413000"/>
            <a:ext cx="5461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2667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25400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 稳定复现场景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锁定触发Bug的「环境+数据+操作」三要素，确保问题可稳定复现。偶现问题需先固化场景，这是排查的基石。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08000" y="3746500"/>
            <a:ext cx="5461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500" y="4000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143000" y="38735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 界定预期差异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清晰写出「预期输出」与「实际结果」的具体矛盾点，拒绝模糊描述（如“结果不对”），精准描述直指问题方向。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08000" y="5080000"/>
            <a:ext cx="5461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500" y="5334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143000" y="52070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 二分法缩小范围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通过注释代码、屏蔽模块等方式将问题拆半排查，不断缩小范围，快速定位到具体的函数或代码行。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223000" y="2413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3500" y="26416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58000" y="2540000"/>
            <a:ext cx="463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 关键日志实证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在关键节点打印变量与状态，基于「事实数据」排查，拒绝凭直觉猜测。日志是还原运行过程的铁证。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3556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3500" y="37846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858000" y="3683000"/>
            <a:ext cx="463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05 断点逐行调试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利用IDE（VS Code/PDB）设置断点，实时监控内存与变量变化，比单纯打印日志更高效直观。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223000" y="4699000"/>
            <a:ext cx="5461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13500" y="49276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858000" y="4826000"/>
            <a:ext cx="4635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06 深挖问题根因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不只修复表面错误，要追溯设计缺陷、边界条件遗漏或逻辑漏洞，从根源解决才能避免复发。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223000" y="5778500"/>
            <a:ext cx="5461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13500" y="59690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858000" y="5842000"/>
            <a:ext cx="463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07 修复验证与回归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验证Bug消除，同时进行回归测试，确保改动未引入新问题，完成完整的修复闭环。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381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断点调试：比打印高效10倍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270000"/>
            <a:ext cx="11176000" cy="711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000" y="1397000"/>
            <a:ext cx="1092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核心结论：学会用断点调试，告别繁琐的 Print 语句，让代码排错效率提升 10 倍！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286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EF4444">
              <a:alpha val="8000"/>
            </a:srgbClr>
          </a:solidFill>
          <a:ln w="12700" cap="flat" cmpd="sng">
            <a:solidFill>
              <a:srgbClr val="EF444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35000" y="24130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🚫 为什么抛弃 Print？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1. 代码冗余：满屏print，后期需逐一清理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2. 效率低下：无法实时查看内存变量状态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3. 体验糟糕：改一行重启一次，反复循环</a:t>
            </a:r>
          </a:p>
        </p:txBody>
      </p:sp>
      <p:sp>
        <p:nvSpPr>
          <p:cNvPr id="9" name="AutoShape 9"/>
          <p:cNvSpPr/>
          <p:nvPr/>
        </p:nvSpPr>
        <p:spPr>
          <a:xfrm>
            <a:off x="4318000" y="2286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445000" y="24130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596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✅ 核心调试三步曲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1. 打点：行号左侧点击，出现红色断点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2. 启动：按下 F5，程序运行至断点暂停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3. 洞察：面板实时查看变量/堆栈/调用链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128000" y="2286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6366F1">
              <a:alpha val="8000"/>
            </a:srgbClr>
          </a:solidFill>
          <a:ln w="12700" cap="flat" cmpd="sng">
            <a:solidFill>
              <a:srgbClr val="6366F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255000" y="24130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4F46E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🌍 全语言/编辑器通用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Python / C++ / Java / Go / JS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VS Code / PyCharm / IDEA / Eclipse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一次学会，终身受益，跨语言复用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08000" y="42545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33415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🛠️ 调试控制台核心指令（VS Code 常用快捷键）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08000" y="4762500"/>
            <a:ext cx="3556000" cy="825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35000" y="4851400"/>
            <a:ext cx="330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▶️ 继续运行 (F9)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让程序继续执行，直到遇到下一个断点或程序结束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318000" y="4762500"/>
            <a:ext cx="3556000" cy="825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445000" y="4851400"/>
            <a:ext cx="330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⏩ 单步跳过 (F10)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执行当前行代码，不进入函数内部，快速逐行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128000" y="4762500"/>
            <a:ext cx="3556000" cy="825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255000" y="4851400"/>
            <a:ext cx="330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⏬ 单步进入 (F11)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深入函数内部执行，排查子函数逻辑错误</a:t>
            </a:r>
          </a:p>
        </p:txBody>
      </p:sp>
      <p:sp>
        <p:nvSpPr>
          <p:cNvPr id="20" name="AutoShape 20"/>
          <p:cNvSpPr/>
          <p:nvPr/>
        </p:nvSpPr>
        <p:spPr>
          <a:xfrm>
            <a:off x="508000" y="5651500"/>
            <a:ext cx="3556000" cy="825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35000" y="5740400"/>
            <a:ext cx="330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⏫ 单步跳出 (Shift+F11)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从当前函数返回到上一级调用处，快速退出</a:t>
            </a:r>
          </a:p>
        </p:txBody>
      </p:sp>
      <p:sp>
        <p:nvSpPr>
          <p:cNvPr id="22" name="AutoShape 22"/>
          <p:cNvSpPr/>
          <p:nvPr/>
        </p:nvSpPr>
        <p:spPr>
          <a:xfrm>
            <a:off x="4318000" y="5651500"/>
            <a:ext cx="3556000" cy="825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4445000" y="5740400"/>
            <a:ext cx="330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🔄 重启调试 (Ctrl+Shift+F5)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重置调试会话，从头开始重新调试程序</a:t>
            </a:r>
          </a:p>
        </p:txBody>
      </p:sp>
      <p:sp>
        <p:nvSpPr>
          <p:cNvPr id="24" name="AutoShape 24"/>
          <p:cNvSpPr/>
          <p:nvPr/>
        </p:nvSpPr>
        <p:spPr>
          <a:xfrm>
            <a:off x="8128000" y="5651500"/>
            <a:ext cx="3556000" cy="825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8255000" y="5740400"/>
            <a:ext cx="330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⏹️ 停止调试 (Shift+F5)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立即终止当前调试进程，释放占用资源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F59E0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异常处理：不要让程序随便崩溃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333500"/>
            <a:ext cx="11176000" cy="635000"/>
          </a:xfrm>
          <a:prstGeom prst="roundRect">
            <a:avLst>
              <a:gd name="adj" fmla="val 0"/>
            </a:avLst>
          </a:prstGeom>
          <a:solidFill>
            <a:srgbClr val="2563EB">
              <a:alpha val="8000"/>
            </a:srgbClr>
          </a:solidFill>
          <a:ln cap="flat" cmpd="sng">
            <a:solidFill>
              <a:srgbClr val="0C4AD2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98500" y="1460500"/>
            <a:ext cx="1092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E40A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核心原则：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正确处理错误不是为了掩盖问题，而是让程序从“崩溃闪退”变为“优雅降级”，这是构建高可用系统的必修课。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286000"/>
            <a:ext cx="5397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2476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06500" y="24384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01. 精准捕获，拒绝“通杀”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206500" y="28194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严禁使用裸露的 except:，必须指定具体异常类型（如 FileNotFoundError），避免吞噬内存溢出、语法错误等致命问题，导致排查无门。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08000" y="3683000"/>
            <a:ext cx="5397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500" y="3873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206500" y="38354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02. 异常≠流程控制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206500" y="42164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异常是用来处理“意外错误”的，而非正常业务逻辑的分支判断（如“用户不存在”应返回状态码而非抛异常），滥用会破坏代码可读性。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508000" y="5080000"/>
            <a:ext cx="5397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500" y="5270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206500" y="52324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03. Finally：资源的“保险锁”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1206500" y="56134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无论是否发生异常，finally 块都会执行。务必在此处关闭文件句柄、释放网络连接或数据库连接，防止资源泄漏。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86500" y="2286000"/>
            <a:ext cx="5397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2476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24384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04. 主动抛错，“早死早超生”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985000" y="28194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遇到非法参数、不合理状态或无法处理的情况时，应主动 raise 明确的异常信息，让问题在开发/测试阶段暴露，而非上线后埋雷。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286500" y="3683000"/>
            <a:ext cx="5397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38735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985000" y="38354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05. 日志：调试的“时光机”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985000" y="42164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异常发生时，必须记录详细上下文：错误类型、具体信息、发生时间、关键变量值及堆栈信息，拒绝只打印“出错了”的无效日志。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286500" y="5080000"/>
            <a:ext cx="5397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77000" y="52705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6985000" y="52324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06. 容错：系统的“缓冲垫”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6985000" y="5613400"/>
            <a:ext cx="450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优秀的程序允许出错，但绝不允许直接崩溃。提供默认值、自动重试或降级服务，给用户友好的提示，给运维排查的时间。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381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Python最常见的10个坑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143000"/>
            <a:ext cx="11176000" cy="635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98500" y="1244600"/>
            <a:ext cx="10795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这些坑我都踩过，你别再踩了！避开这些新手常见陷阱，帮你少走弯路，写出更健壮的Python代码。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032000"/>
            <a:ext cx="5461000" cy="812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" y="22098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079500" y="20828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EF444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01. 可变对象作默认参数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｜ 默认列表会被共享，导致数据异常。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✅ 改用 None 初始化，函数内新建对象。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08000" y="2921000"/>
            <a:ext cx="5461000" cy="812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0400" y="30988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079500" y="29718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02. 列表浅拷贝陷阱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｜ 直接赋值只是引用，改其一则皆变。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✅ 使用 .copy() 或 deepcopy 实现真正复制。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08000" y="3810000"/>
            <a:ext cx="5461000" cy="812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400" y="39878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079500" y="38608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03. 小整数缓存误区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｜ [-5,256]会被缓存，超出则为新对象。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✅ 判相等用 ==，判身份才用 is。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508000" y="4699000"/>
            <a:ext cx="5461000" cy="812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" y="48768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079500" y="47498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8B5CF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04. 循环中的Lambda陷阱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｜ 闭包延迟绑定，所有Lambda共享最后值。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✅ 通过默认参数绑定当前循环变量。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08000" y="5588000"/>
            <a:ext cx="5461000" cy="812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" y="57658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079500" y="56388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EC489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05. 遍历字典时删元素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｜ 直接删除会改变字典大小，触发报错。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✅ 遍历字典的键副本（list(d.keys())）。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223000" y="2032000"/>
            <a:ext cx="5461000" cy="812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75400" y="22098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794500" y="20828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06. GIL 锁的并行假象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｜ 多线程无法利用多核，仅适合IO密集。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✅ CPU密集用多进程，IO密集用协程。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223000" y="2921000"/>
            <a:ext cx="5461000" cy="812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75400" y="30988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794500" y="29718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EAB30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07. 浮点数精度陷阱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｜ 0.1+0.2≠0.3，二进制存储的天然缺陷。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✅ 用 math.isclose() 或 decimal 模块。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223000" y="3810000"/>
            <a:ext cx="5461000" cy="812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375400" y="39878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6794500" y="38608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08. 模块相对导入混乱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｜ 主程序运行时相对导入会触发错误。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✅ 优先使用绝对导入，规范包结构。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6223000" y="4699000"/>
            <a:ext cx="5461000" cy="812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75400" y="4876800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6794500" y="47498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F9731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09. 文件读写的编码乱码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｜ Windows默认GBK，未指定会乱码。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✅ 显式指定 encoding='utf-8'。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6223000" y="5588000"/>
            <a:ext cx="5461000" cy="8128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375400" y="5765800"/>
            <a:ext cx="304800" cy="3048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6794500" y="56388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0EA5E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10. 类方法忘记加 self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｜ 缺省self会导致参数不匹配报错。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10B98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✅ 牢记实例方法首参必须是 self。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381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2E3A5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怎么写可维护的代码？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270000"/>
            <a:ext cx="11176000" cy="825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000" y="1371600"/>
            <a:ext cx="1092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核心认知：代码不是写完就结束，它是持续演进的产物。后续的 Bug 修复、功能迭代、团队协作都依赖于代码的可维护性，它是衡量代码质量的底层基石。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286000"/>
            <a:ext cx="5461000" cy="10414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2476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06500" y="23876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 按功能模块化拆分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拒绝“一锅炖”，将驱动、算法、工具类代码分别归档到独立目录（如drivers/、utils/），降低耦合度，让结构一目了然。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508000" y="3492500"/>
            <a:ext cx="5461000" cy="10414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500" y="3683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06500" y="35941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 编写“自解释”README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清晰描述项目用途、环境依赖、安装步骤及运行命令。好的文档能让新人快速上手，也能让未来的你快速回忆起项目细节。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508000" y="4699000"/>
            <a:ext cx="5461000" cy="10414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500" y="48895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206500" y="48006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 配置参数外置管理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将IP、端口、阈值等可变参数存入YAML/JSON文件，而非硬编码在代码中。修改配置无需动核心逻辑，适配不同环境更灵活。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2286000"/>
            <a:ext cx="5461000" cy="10414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3500" y="24765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21500" y="23876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 规范的分级日志系统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摒弃零散的 print 语句，使用 logging 模块记录 Debug/Info/Error 等不同级别日志，并持久化存储，这是排查线上问题的关键。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23000" y="3492500"/>
            <a:ext cx="5461000" cy="10414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3500" y="36830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21500" y="35941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05 拒绝硬编码绝对路径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使用相对路径或动态获取路径，避免因更换设备或部署环境导致的“路径不存在”错误，保证代码的可移植性。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6223000" y="4699000"/>
            <a:ext cx="5461000" cy="10414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13500" y="48895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21500" y="48006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06 保持接口设计的简洁性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模块间接口应参数少、语义清晰，隐藏内部实现细节。简单的接口能降低理解成本，减少模块间的依赖和干扰。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508000" y="5905500"/>
            <a:ext cx="11176000" cy="6096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35000" y="6007100"/>
            <a:ext cx="10922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灵魂拷问：如果一年后你重新接手这段代码，还能快速看懂吗？如果是同事来维护，他会不会因为代码太难懂而抓狂？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F59E0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81000" y="381000"/>
            <a:ext cx="1143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Python性能优化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381000" y="1206500"/>
            <a:ext cx="11430000" cy="889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000" y="13716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2563E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核心原则：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先让代码“跑起来”，再追求“跑得快”。过早优化是万恶之源，能正确运行的慢代码，远胜于无法工作的“快”代码。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381000" y="2349500"/>
            <a:ext cx="3683000" cy="1905000"/>
          </a:xfrm>
          <a:prstGeom prst="roundRect">
            <a:avLst>
              <a:gd name="adj" fmla="val 0"/>
            </a:avLst>
          </a:prstGeom>
          <a:solidFill>
            <a:srgbClr val="10B981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" y="2540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952500" y="2514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65F4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 拒绝“过早优化”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71500" y="298450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新手常陷入“为了快而快”的陷阱，写出晦涩难懂的代码却Bug频发。记住：</a:t>
            </a: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正确性 &gt; 性能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，能运行的代码才是开发的基石。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254500" y="2349500"/>
            <a:ext cx="3683000" cy="1905000"/>
          </a:xfrm>
          <a:prstGeom prst="roundRect">
            <a:avLst>
              <a:gd name="adj" fmla="val 0"/>
            </a:avLst>
          </a:prstGeom>
          <a:solidFill>
            <a:srgbClr val="F59E0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45000" y="2540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826000" y="2514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92400E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 科学的优化流程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445000" y="298450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① 功能验证：确保逻辑无误；② 性能剖析：用 cProfile/timeit 定位瓶颈（90%耗时在10%代码上）；③ 精准优化：只对核心瓶颈动手，避免无差别优化。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128000" y="2349500"/>
            <a:ext cx="3683000" cy="1905000"/>
          </a:xfrm>
          <a:prstGeom prst="roundRect">
            <a:avLst>
              <a:gd name="adj" fmla="val 0"/>
            </a:avLst>
          </a:prstGeom>
          <a:solidFill>
            <a:srgbClr val="8B5CF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18500" y="2540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699500" y="25146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5B21B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 可读性 &gt; 过度优化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318500" y="2984500"/>
            <a:ext cx="330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不要为了微乎其微的性能提升牺牲代码可读性。过度优化的“黑魔法”会增加维护成本，让代码变成难以维护的“天书”。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381000" y="4508500"/>
            <a:ext cx="273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1500" y="46990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89000" y="46736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Numpy 向量化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571500" y="5080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替代原生 for 循环，利用底层 C 实现的矩阵运算，数值计算速度可提升百倍，告别低效循环。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3238500" y="4508500"/>
            <a:ext cx="273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29000" y="4699000"/>
            <a:ext cx="254000" cy="254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3746500" y="46736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善用内置库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3429000" y="5080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优先使用 Python 内置函数（如 map/zip）和标准库，它们均为 C 级编译实现，远超手写逻辑。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096000" y="4508500"/>
            <a:ext cx="273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86500" y="4699000"/>
            <a:ext cx="254000" cy="254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6604000" y="46736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循环开销剥离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6286500" y="5080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将循环内的重复计算（属性查找、常量运算）提前至外部，减少每次迭代的不必要损耗。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8953500" y="4508500"/>
            <a:ext cx="27305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44000" y="4699000"/>
            <a:ext cx="254000" cy="2540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9461500" y="4673600"/>
            <a:ext cx="203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并发与异构加速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9144000" y="5080000"/>
            <a:ext cx="241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IO 密集型用 asyncio/多线程，CPU 密集型用多进程；极致性能场景使用 pybind11 调用 C++。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AF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面向对象还是函数式？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11176000" cy="889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1587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E40A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核心心法：拒绝教条主义！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不要为了用面向对象而用面向对象，“怎么简单怎么来”才是第一原则。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540000"/>
            <a:ext cx="3556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08000" y="2540000"/>
            <a:ext cx="3556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200" y="2794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143000" y="27686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 优先使用函数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11200" y="3302000"/>
            <a:ext cx="31496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适用于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无状态、一次性的工具逻辑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。比如简单的数据清洗、数学计算、独立的工具方法。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无需封装复杂的类结构，代码更轻量、调用更直接，减少不必要的层级开销，保持代码的“清爽”。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318000" y="2540000"/>
            <a:ext cx="3556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318000" y="2540000"/>
            <a:ext cx="3556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1200" y="2794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4953000" y="27686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 必要时使用类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521200" y="3302000"/>
            <a:ext cx="31496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持有状态：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如传感器连接、用户会话（需保存动态数据）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数据共享：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如卡尔曼滤波（多方法操作同一矩阵）</a:t>
            </a:r>
          </a:p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多态扩展：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如统一接口的控制器（继承基类实现不同策略）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128000" y="2540000"/>
            <a:ext cx="3556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128000" y="2540000"/>
            <a:ext cx="3556000" cy="508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31200" y="2794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763000" y="27686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 警惕过度设计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8331200" y="3302000"/>
            <a:ext cx="31496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拒绝一上来就堆砌抽象类、多层继承和复杂设计模式。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简单的项目不需要“为未来买单”的扩展性，过度架构会让代码晦涩难懂，维护成本飙升。遵循</a:t>
            </a: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YAGNI 原则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（你不会需要它）。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508000" y="5524500"/>
            <a:ext cx="11176000" cy="8890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62000" y="56896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“能解决问题的最简单方法，就是最好的方法。”</a:t>
            </a: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D1D5D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让代码回归解决问题的本质，而不是炫技的舞台。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3175000" cy="3175000"/>
          </a:xfrm>
          <a:prstGeom prst="ellipse">
            <a:avLst/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4445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E293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AI辅助写Python提示词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2065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AI是你最好的编程助手，用好它效率翻倍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508000" y="1841500"/>
            <a:ext cx="54610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200" y="2032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19200" y="2032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 精准生成代码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219200" y="2413000"/>
            <a:ext cx="457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明确功能细节（如“读取YAML并处理文件不存在异常”），要求符合PEP8规范、加注释并附带调用示例，让AI直接输出可用代码。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1841500"/>
            <a:ext cx="5461000" cy="1206500"/>
          </a:xfrm>
          <a:prstGeom prst="roundRect">
            <a:avLst>
              <a:gd name="adj" fmla="val 0"/>
            </a:avLst>
          </a:prstGeom>
          <a:solidFill>
            <a:srgbClr val="EF4444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26200" y="2032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34200" y="2032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991B1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 智能Bug排查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934200" y="2413000"/>
            <a:ext cx="457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提供“原代码+预期功能+具体报错信息+已尝试的解决方案”，让AI精准定位根因，不仅给修复代码，还要解释错误逻辑。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08000" y="3238500"/>
            <a:ext cx="5461000" cy="1206500"/>
          </a:xfrm>
          <a:prstGeom prst="roundRect">
            <a:avLst>
              <a:gd name="adj" fmla="val 0"/>
            </a:avLst>
          </a:prstGeom>
          <a:solidFill>
            <a:srgbClr val="F59E0B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1200" y="34290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219200" y="3429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78350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 多维代码优化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1219200" y="3810000"/>
            <a:ext cx="457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指令中强调从“可读性、执行性能、容错健壮性”三个维度入手，要求对比指出原代码的缺陷，并说明优化后的具体收益。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3238500"/>
            <a:ext cx="54610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26200" y="34290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34200" y="3429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 逐行代码解析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934200" y="3810000"/>
            <a:ext cx="457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让AI逐行拆解逻辑，说明参数输入输出规则、数据流向，重点标注潜在的坑点、边界条件限制及最佳实践建议。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508000" y="4635500"/>
            <a:ext cx="5461000" cy="1206500"/>
          </a:xfrm>
          <a:prstGeom prst="roundRect">
            <a:avLst>
              <a:gd name="adj" fmla="val 0"/>
            </a:avLst>
          </a:prstGeom>
          <a:solidFill>
            <a:srgbClr val="8B5CF6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1200" y="4826000"/>
            <a:ext cx="355600" cy="3556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219200" y="4826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4C1D95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05 自动生成单元测试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1219200" y="5207000"/>
            <a:ext cx="457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指定使用pytest框架，要求覆盖三种场景：正常业务流程、空值/极值等边界情况、以及异常捕获场景，确保代码稳定性。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223000" y="4635500"/>
            <a:ext cx="5461000" cy="1206500"/>
          </a:xfrm>
          <a:prstGeom prst="roundRect">
            <a:avLst>
              <a:gd name="adj" fmla="val 0"/>
            </a:avLst>
          </a:prstGeom>
          <a:solidFill>
            <a:srgbClr val="EC4899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26200" y="4826000"/>
            <a:ext cx="355600" cy="3556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934200" y="4826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83184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06 架构级代码重构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934200" y="5207000"/>
            <a:ext cx="457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7556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针对臃肿代码，要求AI拆分函数、解耦模块，在保持原有功能不变的前提下，提升代码的可维护性与可扩展性。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508000" y="6096000"/>
            <a:ext cx="11176000" cy="457200"/>
          </a:xfrm>
          <a:prstGeom prst="roundRect">
            <a:avLst>
              <a:gd name="adj" fmla="val 0"/>
            </a:avLst>
          </a:prstGeom>
          <a:solidFill>
            <a:srgbClr val="F97316">
              <a:alpha val="10000"/>
            </a:srgbClr>
          </a:solidFill>
          <a:ln w="12700" cap="flat" cmpd="sng">
            <a:solidFill>
              <a:srgbClr val="F9731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98500" y="6223000"/>
            <a:ext cx="203200" cy="2032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1016000" y="6184900"/>
            <a:ext cx="1041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C2410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安全警示：AI生成的代码并非绝对可靠，必须人工复核逻辑、运行单元测试并验证边界情况，切勿直接复制粘贴上线。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35000" y="-635000"/>
            <a:ext cx="2540000" cy="2540000"/>
          </a:xfrm>
          <a:prstGeom prst="ellipse">
            <a:avLst/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10160000" y="5080000"/>
            <a:ext cx="3175000" cy="3175000"/>
          </a:xfrm>
          <a:prstGeom prst="ellipse">
            <a:avLst/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推荐的Python学习资源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11176000" cy="635000"/>
          </a:xfrm>
          <a:prstGeom prst="roundRect">
            <a:avLst>
              <a:gd name="adj" fmla="val 0"/>
            </a:avLst>
          </a:prstGeom>
          <a:solidFill>
            <a:srgbClr val="FFEDD5">
              <a:alpha val="100000"/>
            </a:srgbClr>
          </a:solidFill>
          <a:ln cap="flat" cmpd="sng">
            <a:solidFill>
              <a:srgbClr val="E6CBA9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C2410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核心心法：编程是手艺活，边做项目边查边学才是最快的捷径，拒绝死记硬背！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413000"/>
            <a:ext cx="3556000" cy="2921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2667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93800" y="2641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 入门夯实 · 打好地基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238500"/>
            <a:ext cx="304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📖 官方教程 (Python Tutorial)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最权威的免费资源，语法定义精准，是最好的“字典式”手册，适合随时查阅。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🧩 刷题练手 (LeetCode 简单题)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刷30-50道基础题，快速熟悉逻辑与语法，无需纠结难题，重在培养“手感”。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318000" y="2413000"/>
            <a:ext cx="3556000" cy="29210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2667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03800" y="2641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064E3B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 进阶规范 · 提升质感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572000" y="3238500"/>
            <a:ext cx="304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📚 进阶阅读 (流畅的Python)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经典进阶之作，讲解高级特性与设计模式。建议有基础后阅读，会有醍醐灌顶之感。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⚙️ 代码规范 (PEP8 + Black)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遵循PEP8标准，使用Black自动格式化，写出专业、易读、优雅的代码。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128000" y="2413000"/>
            <a:ext cx="3556000" cy="29210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2000" y="2667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13800" y="2641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7C2D12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 实战避坑 · 快速破局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382000" y="3238500"/>
            <a:ext cx="304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🚀 最快路径：做感兴趣的项目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需求驱动学习，遇到问题再查资料。完成2个实战项目（如爬虫、小工具）胜过百页理论。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🚫 避坑指南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1F2329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远离“7天精通”噱头，切忌试图学完所有语法再动手，在实践中成长才是正解。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508000" y="56515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1E3A8A">
              <a:alpha val="5000"/>
            </a:srgbClr>
          </a:solidFill>
          <a:ln w="12700" cap="flat" cmpd="sng">
            <a:solidFill>
              <a:srgbClr val="1E3A8A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58166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500" b="1" i="0" u="none" strike="noStrike" kern="0" cap="none" spc="0" normalizeH="0" baseline="0" noProof="0">
                <a:ln>
                  <a:noFill/>
                </a:ln>
                <a:solidFill>
                  <a:srgbClr val="1E3A8A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今日行动：与其纠结书单，不如立刻打开编辑器，从“写一个简单的待办清单脚本”开始，遇到不会的就搜，写着写着就会了！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635000"/>
            <a:ext cx="2540000" cy="254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635000" y="5715000"/>
            <a:ext cx="1905000" cy="1905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254000" y="381000"/>
            <a:ext cx="1168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SimHei"/>
                <a:ea typeface="SimHei"/>
                <a:cs typeface="SimHei"/>
                <a:sym typeface="SimHei"/>
              </a:rPr>
              <a:t>本模块常见问题FAQ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254000" y="1016000"/>
            <a:ext cx="1168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你想问的都在这里，为你解答编程学习路上的疑惑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81000" y="1651000"/>
            <a:ext cx="3632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500" y="1841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952500" y="1841500"/>
            <a:ext cx="2984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需要学完所有Python库吗？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571500" y="2222500"/>
            <a:ext cx="3251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完全不需要。Python拥有数十万开源库，没人能全部掌握。遵循“用到即学”原则，熟练掌握NumPy、Pandas等核心常用库，即可应对绝大多数开发场景。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267200" y="1651000"/>
            <a:ext cx="3632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57700" y="1841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838700" y="1841500"/>
            <a:ext cx="2984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需要学C++吗？何时学？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457700" y="2222500"/>
            <a:ext cx="3251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入门首选Python，因其语法简洁、容易获得正反馈。当你需要解决高性能计算、底层驱动开发或实时控制系统等问题时，再进阶学习C++，循序渐进效率更高。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53400" y="1651000"/>
            <a:ext cx="3632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43900" y="18415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24900" y="1841500"/>
            <a:ext cx="29845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感觉自己代码写得很烂？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343900" y="2222500"/>
            <a:ext cx="3251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这是所有新手的必经之路，无需焦虑。先实现功能，再追求优雅。通过大量的编码实践和研读优秀的开源代码，你的代码质量会随着经验的积累自然提升。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381000" y="3873500"/>
            <a:ext cx="55626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1500" y="4064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52500" y="40640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Git命令太复杂，记不住怎么办？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571500" y="4445000"/>
            <a:ext cx="51816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常用命令仅需掌握10个左右，坚持使用一周即可熟练。复杂命令无需硬背，随用随查即可。此外，利用VS Code、SourceTree等图形化工具可以大大降低操作门槛，先会用再深究原理。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223000" y="3873500"/>
            <a:ext cx="55626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13500" y="4064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794500" y="4064000"/>
            <a:ext cx="4826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Debug（调试）速度太慢，效率低？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413500" y="4445000"/>
            <a:ext cx="51816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4B5563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拒绝盲目试错。学会使用IDE的断点调试功能，结合日志打印，用科学的方法定位问题。随着经验的积累，你会逐渐熟悉各类报错信息，达到“一眼定位”的境界。Debug能力是程序员的核心竞争力之一。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254000" y="6032500"/>
            <a:ext cx="11684000" cy="508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381000" y="6134100"/>
            <a:ext cx="1143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1E40AF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核心心法：编程没有捷径，多写多练是王道，遇到问题先尝试独立解决，这是成长的必经之路。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3175000" cy="3175000"/>
          </a:xfrm>
          <a:prstGeom prst="ellipse">
            <a:avLst/>
          </a:prstGeom>
          <a:solidFill>
            <a:srgbClr val="F59E0B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508000" y="4445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课后练习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508000" y="1270000"/>
            <a:ext cx="11176000" cy="6350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BBF2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35000" y="1397000"/>
            <a:ext cx="1092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D9770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💡 核心心法：动手写，才是学会编程的唯一方法 —— 先完成，再完美！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508000" y="2159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2349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079500" y="23241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01. Git版本管理实战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98500" y="2794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将计算器代码纳入Git管理，完成本地仓库初始化，并推送到GitHub远程仓库，熟悉基本的提交与同步流程。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318000" y="2159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8500" y="2349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889500" y="23241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02. CSV数据绘图与异常处理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508500" y="2794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编写脚本读取CSV文件，使用Matplotlib绘制趋势曲线。重点练习文件不存在、格式错误等异常情况的捕获与处理。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128000" y="21590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18500" y="2349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699500" y="23241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03. 编写Pytest单元测试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318500" y="27940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为你写的核心函数编写测试用例，覆盖正常输入、边界值和异常场景，使用pytest运行并确保测试通过。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508000" y="40005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500" y="4191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079500" y="41656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04. VS Code断点调试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698500" y="46355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学会设置断点，利用调试控制台单步执行代码，实时观察变量值的变化，掌握排查Bug的核心技能。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4318000" y="40005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08500" y="41910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4889500" y="41656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05. 独立开发Mini项目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4508500" y="46355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选择一个感兴趣的方向（如简单游戏、网页爬虫或图片处理），独立完成开发并发布到GitHub，建立作品集。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8128000" y="4000500"/>
            <a:ext cx="3556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318500" y="41910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8699500" y="4165600"/>
            <a:ext cx="292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F2937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06. 代码规范与格式化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8318500" y="4635500"/>
            <a:ext cx="317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安装Black自动格式化工具和Flake8检查工具，确保代码严格遵循PEP8规范，养成专业的编码习惯。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508000" y="5969000"/>
            <a:ext cx="11176000" cy="571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635000" y="6070600"/>
            <a:ext cx="1092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374151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“不要怕写得烂，先写出来。你的第一个项目，就是你工程师之路的开始。” —— 持续的代码输出是技术进阶的捷径。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9240</Words>
  <Application>Microsoft Office PowerPoint</Application>
  <PresentationFormat>宽屏</PresentationFormat>
  <Paragraphs>930</Paragraphs>
  <Slides>40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6" baseType="lpstr">
      <vt:lpstr>Noto Sans SC</vt:lpstr>
      <vt:lpstr>等线</vt:lpstr>
      <vt:lpstr>SimHei</vt:lpstr>
      <vt:lpstr>Arial</vt:lpstr>
      <vt:lpstr>Roboto Mono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Ricky Lee</dc:creator>
  <cp:lastModifiedBy>Ricky Lee</cp:lastModifiedBy>
  <cp:revision>1</cp:revision>
  <dcterms:created xsi:type="dcterms:W3CDTF">2026-07-15T14:20:17Z</dcterms:created>
  <dcterms:modified xsi:type="dcterms:W3CDTF">2026-07-15T14:48:59Z</dcterms:modified>
</cp:coreProperties>
</file>